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6EE"/>
          </a:solidFill>
        </a:fill>
      </a:tcStyle>
    </a:wholeTbl>
    <a:band2H>
      <a:tcTxStyle b="def" i="def"/>
      <a:tcStyle>
        <a:tcBdr/>
        <a:fill>
          <a:solidFill>
            <a:srgbClr val="E8F3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E7CB"/>
          </a:solidFill>
        </a:fill>
      </a:tcStyle>
    </a:wholeTbl>
    <a:band2H>
      <a:tcTxStyle b="def" i="def"/>
      <a:tcStyle>
        <a:tcBdr/>
        <a:fill>
          <a:solidFill>
            <a:srgbClr val="EEF3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FCCCD"/>
          </a:solidFill>
        </a:fill>
      </a:tcStyle>
    </a:wholeTbl>
    <a:band2H>
      <a:tcTxStyle b="def" i="def"/>
      <a:tcStyle>
        <a:tcBdr/>
        <a:fill>
          <a:solidFill>
            <a:srgbClr val="F7E7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0" name="Shape 140"/>
          <p:cNvSpPr/>
          <p:nvPr>
            <p:ph type="sldImg"/>
          </p:nvPr>
        </p:nvSpPr>
        <p:spPr>
          <a:xfrm>
            <a:off x="1143000" y="685800"/>
            <a:ext cx="4572000" cy="3429000"/>
          </a:xfrm>
          <a:prstGeom prst="rect">
            <a:avLst/>
          </a:prstGeom>
        </p:spPr>
        <p:txBody>
          <a:bodyPr/>
          <a:lstStyle/>
          <a:p>
            <a:pPr/>
          </a:p>
        </p:txBody>
      </p:sp>
      <p:sp>
        <p:nvSpPr>
          <p:cNvPr id="141" name="Shape 14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9"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20"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21"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22" name="Title Text"/>
          <p:cNvSpPr txBox="1"/>
          <p:nvPr>
            <p:ph type="title"/>
          </p:nvPr>
        </p:nvSpPr>
        <p:spPr>
          <a:xfrm rot="5400000">
            <a:off x="-1028700" y="3086100"/>
            <a:ext cx="7429500" cy="4229100"/>
          </a:xfrm>
          <a:prstGeom prst="rect">
            <a:avLst/>
          </a:prstGeom>
        </p:spPr>
        <p:txBody>
          <a:bodyPr/>
          <a:lstStyle/>
          <a:p>
            <a:pPr/>
            <a:r>
              <a:t>Title Text</a:t>
            </a:r>
          </a:p>
        </p:txBody>
      </p:sp>
      <p:sp>
        <p:nvSpPr>
          <p:cNvPr id="23" name="Body Level One…"/>
          <p:cNvSpPr txBox="1"/>
          <p:nvPr>
            <p:ph type="body" idx="1"/>
          </p:nvPr>
        </p:nvSpPr>
        <p:spPr>
          <a:xfrm rot="5400000">
            <a:off x="7447818" y="-342930"/>
            <a:ext cx="7680901" cy="10972801"/>
          </a:xfrm>
          <a:prstGeom prst="rect">
            <a:avLst/>
          </a:prstGeom>
        </p:spPr>
        <p:txBody>
          <a:bodyPr anchor="t">
            <a:normAutofit fontScale="100000" lnSpcReduction="0"/>
          </a:bodyPr>
          <a:lstStyle>
            <a:lvl1pPr indent="-342900"/>
            <a:lvl2pPr marL="952500" indent="-381000"/>
            <a:lvl3pPr marL="1457325" indent="-428625"/>
            <a:lvl4pPr marL="1975757" indent="-489857"/>
            <a:lvl5pPr marL="2432957" indent="-489857"/>
          </a:lstStyle>
          <a:p>
            <a:pPr/>
            <a:r>
              <a:t>Body Level One</a:t>
            </a:r>
          </a:p>
          <a:p>
            <a:pPr lvl="1"/>
            <a:r>
              <a:t>Body Level Two</a:t>
            </a:r>
          </a:p>
          <a:p>
            <a:pPr lvl="2"/>
            <a:r>
              <a:t>Body Level Three</a:t>
            </a:r>
          </a:p>
          <a:p>
            <a:pPr lvl="3"/>
            <a:r>
              <a:t>Body Level Four</a:t>
            </a:r>
          </a:p>
          <a:p>
            <a:pPr lvl="4"/>
            <a:r>
              <a:t>Body Level Five</a:t>
            </a:r>
          </a:p>
        </p:txBody>
      </p:sp>
      <p:sp>
        <p:nvSpPr>
          <p:cNvPr id="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31"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32"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33"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34" name="Title Text"/>
          <p:cNvSpPr txBox="1"/>
          <p:nvPr>
            <p:ph type="title"/>
          </p:nvPr>
        </p:nvSpPr>
        <p:spPr>
          <a:xfrm>
            <a:off x="379411" y="1685925"/>
            <a:ext cx="4421101" cy="6900900"/>
          </a:xfrm>
          <a:prstGeom prst="rect">
            <a:avLst/>
          </a:prstGeom>
        </p:spPr>
        <p:txBody>
          <a:bodyPr/>
          <a:lstStyle/>
          <a:p>
            <a:pPr/>
            <a:r>
              <a:t>Title Text</a:t>
            </a:r>
          </a:p>
        </p:txBody>
      </p:sp>
      <p:sp>
        <p:nvSpPr>
          <p:cNvPr id="35" name="Body Level One…"/>
          <p:cNvSpPr txBox="1"/>
          <p:nvPr>
            <p:ph type="body" idx="1"/>
          </p:nvPr>
        </p:nvSpPr>
        <p:spPr>
          <a:xfrm rot="5400000">
            <a:off x="7443050" y="-350100"/>
            <a:ext cx="7681801" cy="10972801"/>
          </a:xfrm>
          <a:prstGeom prst="rect">
            <a:avLst/>
          </a:prstGeom>
        </p:spPr>
        <p:txBody>
          <a:bodyPr anchor="t">
            <a:normAutofit fontScale="100000" lnSpcReduction="0"/>
          </a:bodyPr>
          <a:lstStyle>
            <a:lvl1pPr indent="-342900"/>
            <a:lvl2pPr marL="952500" indent="-381000"/>
            <a:lvl3pPr marL="1457325" indent="-428625"/>
            <a:lvl4pPr marL="1975757" indent="-489857"/>
            <a:lvl5pPr marL="2432957" indent="-489857"/>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43"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44"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45"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46" name="Title Text"/>
          <p:cNvSpPr txBox="1"/>
          <p:nvPr>
            <p:ph type="title"/>
          </p:nvPr>
        </p:nvSpPr>
        <p:spPr>
          <a:xfrm>
            <a:off x="384047" y="1714500"/>
            <a:ext cx="4251902" cy="3566101"/>
          </a:xfrm>
          <a:prstGeom prst="rect">
            <a:avLst/>
          </a:prstGeom>
        </p:spPr>
        <p:txBody>
          <a:bodyPr anchor="b"/>
          <a:lstStyle>
            <a:lvl1pPr>
              <a:defRPr sz="4800"/>
            </a:lvl1pPr>
          </a:lstStyle>
          <a:p>
            <a:pPr/>
            <a:r>
              <a:t>Title Text</a:t>
            </a:r>
          </a:p>
        </p:txBody>
      </p:sp>
      <p:sp>
        <p:nvSpPr>
          <p:cNvPr id="47" name="Body Level One…"/>
          <p:cNvSpPr txBox="1"/>
          <p:nvPr>
            <p:ph type="body" idx="1"/>
          </p:nvPr>
        </p:nvSpPr>
        <p:spPr>
          <a:xfrm>
            <a:off x="5801867" y="1303019"/>
            <a:ext cx="10972801" cy="7680902"/>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8" name="Google Shape;503;p6"/>
          <p:cNvSpPr txBox="1"/>
          <p:nvPr>
            <p:ph type="body" sz="quarter" idx="21"/>
          </p:nvPr>
        </p:nvSpPr>
        <p:spPr>
          <a:xfrm>
            <a:off x="384047" y="5241264"/>
            <a:ext cx="4251902" cy="3483001"/>
          </a:xfrm>
          <a:prstGeom prst="rect">
            <a:avLst/>
          </a:prstGeom>
        </p:spPr>
        <p:txBody>
          <a:bodyPr anchor="t">
            <a:normAutofit fontScale="100000" lnSpcReduction="0"/>
          </a:bodyPr>
          <a:lstStyle/>
          <a:p>
            <a:pPr marL="228600" indent="0">
              <a:lnSpc>
                <a:spcPct val="100000"/>
              </a:lnSpc>
              <a:buClrTx/>
              <a:buSzTx/>
              <a:buFontTx/>
              <a:buNone/>
              <a:defRPr sz="2100">
                <a:solidFill>
                  <a:srgbClr val="FFFFFF"/>
                </a:solidFill>
              </a:defRPr>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56"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57"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58"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59" name="Title Text"/>
          <p:cNvSpPr txBox="1"/>
          <p:nvPr>
            <p:ph type="title"/>
          </p:nvPr>
        </p:nvSpPr>
        <p:spPr>
          <a:xfrm>
            <a:off x="379411" y="1685925"/>
            <a:ext cx="4421101" cy="6900900"/>
          </a:xfrm>
          <a:prstGeom prst="rect">
            <a:avLst/>
          </a:prstGeom>
        </p:spPr>
        <p:txBody>
          <a:bodyPr/>
          <a:lstStyle/>
          <a:p>
            <a:pPr/>
            <a:r>
              <a:t>Title Text</a:t>
            </a:r>
          </a:p>
        </p:txBody>
      </p:sp>
      <p:sp>
        <p:nvSpPr>
          <p:cNvPr id="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67"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68"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69"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70" name="Title Text"/>
          <p:cNvSpPr txBox="1"/>
          <p:nvPr>
            <p:ph type="title"/>
          </p:nvPr>
        </p:nvSpPr>
        <p:spPr>
          <a:xfrm>
            <a:off x="379411" y="1685925"/>
            <a:ext cx="4421101" cy="6900900"/>
          </a:xfrm>
          <a:prstGeom prst="rect">
            <a:avLst/>
          </a:prstGeom>
        </p:spPr>
        <p:txBody>
          <a:bodyPr/>
          <a:lstStyle/>
          <a:p>
            <a:pPr/>
            <a:r>
              <a:t>Title Text</a:t>
            </a:r>
          </a:p>
        </p:txBody>
      </p:sp>
      <p:sp>
        <p:nvSpPr>
          <p:cNvPr id="71" name="Body Level One…"/>
          <p:cNvSpPr txBox="1"/>
          <p:nvPr>
            <p:ph type="body" sz="quarter" idx="1"/>
          </p:nvPr>
        </p:nvSpPr>
        <p:spPr>
          <a:xfrm>
            <a:off x="5801867" y="1535378"/>
            <a:ext cx="5212202" cy="1211701"/>
          </a:xfrm>
          <a:prstGeom prst="rect">
            <a:avLst/>
          </a:prstGeom>
        </p:spPr>
        <p:txBody>
          <a:bodyPr anchor="b">
            <a:normAutofit fontScale="100000" lnSpcReduction="0"/>
          </a:bodyPr>
          <a:lstStyle>
            <a:lvl1pPr marL="228600" indent="0">
              <a:spcBef>
                <a:spcPts val="0"/>
              </a:spcBef>
              <a:buClrTx/>
              <a:buSzTx/>
              <a:buFontTx/>
              <a:buNone/>
            </a:lvl1pPr>
            <a:lvl2pPr marL="228600" indent="457200">
              <a:spcBef>
                <a:spcPts val="0"/>
              </a:spcBef>
              <a:buClrTx/>
              <a:buSzTx/>
              <a:buFontTx/>
              <a:buNone/>
            </a:lvl2pPr>
            <a:lvl3pPr marL="228600" indent="914400">
              <a:spcBef>
                <a:spcPts val="0"/>
              </a:spcBef>
              <a:buClrTx/>
              <a:buSzTx/>
              <a:buFontTx/>
              <a:buNone/>
            </a:lvl3pPr>
            <a:lvl4pPr marL="228600" indent="1371600">
              <a:spcBef>
                <a:spcPts val="0"/>
              </a:spcBef>
              <a:buClrTx/>
              <a:buSzTx/>
              <a:buFontTx/>
              <a:buNone/>
            </a:lvl4pPr>
            <a:lvl5pPr marL="228600" indent="1828800">
              <a:spcBef>
                <a:spcPts val="0"/>
              </a:spcBef>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72" name="Google Shape;515;p8"/>
          <p:cNvSpPr txBox="1"/>
          <p:nvPr>
            <p:ph type="body" sz="quarter" idx="21"/>
          </p:nvPr>
        </p:nvSpPr>
        <p:spPr>
          <a:xfrm>
            <a:off x="5801867" y="2896403"/>
            <a:ext cx="5212201" cy="6035102"/>
          </a:xfrm>
          <a:prstGeom prst="rect">
            <a:avLst/>
          </a:prstGeom>
        </p:spPr>
        <p:txBody>
          <a:bodyPr>
            <a:normAutofit fontScale="100000" lnSpcReduction="0"/>
          </a:bodyPr>
          <a:lstStyle/>
          <a:p>
            <a:pPr/>
          </a:p>
        </p:txBody>
      </p:sp>
      <p:sp>
        <p:nvSpPr>
          <p:cNvPr id="73" name="Google Shape;516;p8"/>
          <p:cNvSpPr txBox="1"/>
          <p:nvPr>
            <p:ph type="body" sz="quarter" idx="22"/>
          </p:nvPr>
        </p:nvSpPr>
        <p:spPr>
          <a:xfrm>
            <a:off x="11727694" y="1535379"/>
            <a:ext cx="5212202" cy="1219802"/>
          </a:xfrm>
          <a:prstGeom prst="rect">
            <a:avLst/>
          </a:prstGeom>
        </p:spPr>
        <p:txBody>
          <a:bodyPr anchor="b">
            <a:normAutofit fontScale="100000" lnSpcReduction="0"/>
          </a:bodyPr>
          <a:lstStyle/>
          <a:p>
            <a:pPr marL="228600" indent="0">
              <a:spcBef>
                <a:spcPts val="0"/>
              </a:spcBef>
              <a:buClrTx/>
              <a:buSzTx/>
              <a:buFontTx/>
              <a:buNone/>
            </a:pPr>
          </a:p>
        </p:txBody>
      </p:sp>
      <p:sp>
        <p:nvSpPr>
          <p:cNvPr id="74" name="Google Shape;517;p8"/>
          <p:cNvSpPr txBox="1"/>
          <p:nvPr>
            <p:ph type="body" sz="quarter" idx="23"/>
          </p:nvPr>
        </p:nvSpPr>
        <p:spPr>
          <a:xfrm>
            <a:off x="11727694" y="2896403"/>
            <a:ext cx="5212202" cy="6035102"/>
          </a:xfrm>
          <a:prstGeom prst="rect">
            <a:avLst/>
          </a:prstGeom>
        </p:spPr>
        <p:txBody>
          <a:bodyPr>
            <a:normAutofit fontScale="100000" lnSpcReduction="0"/>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82"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83"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84"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85" name="Title Text"/>
          <p:cNvSpPr txBox="1"/>
          <p:nvPr>
            <p:ph type="title"/>
          </p:nvPr>
        </p:nvSpPr>
        <p:spPr>
          <a:xfrm>
            <a:off x="379411" y="1685925"/>
            <a:ext cx="4421101" cy="6900900"/>
          </a:xfrm>
          <a:prstGeom prst="rect">
            <a:avLst/>
          </a:prstGeom>
        </p:spPr>
        <p:txBody>
          <a:bodyPr/>
          <a:lstStyle/>
          <a:p>
            <a:pPr/>
            <a:r>
              <a:t>Title Text</a:t>
            </a:r>
          </a:p>
        </p:txBody>
      </p:sp>
      <p:sp>
        <p:nvSpPr>
          <p:cNvPr id="86" name="Body Level One…"/>
          <p:cNvSpPr txBox="1"/>
          <p:nvPr>
            <p:ph type="body" sz="half" idx="1"/>
          </p:nvPr>
        </p:nvSpPr>
        <p:spPr>
          <a:xfrm>
            <a:off x="5801867" y="1303019"/>
            <a:ext cx="5212202" cy="7680902"/>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87" name="Google Shape;524;p9"/>
          <p:cNvSpPr txBox="1"/>
          <p:nvPr>
            <p:ph type="body" sz="half" idx="21"/>
          </p:nvPr>
        </p:nvSpPr>
        <p:spPr>
          <a:xfrm>
            <a:off x="11727180" y="1303019"/>
            <a:ext cx="5212201" cy="7680902"/>
          </a:xfrm>
          <a:prstGeom prst="rect">
            <a:avLst/>
          </a:prstGeom>
        </p:spPr>
        <p:txBody>
          <a:bodyPr>
            <a:normAutofit fontScale="100000" lnSpcReduction="0"/>
          </a:bodyPr>
          <a:lstStyle/>
          <a:p>
            <a:pP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95"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96"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97"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98" name="Title Text"/>
          <p:cNvSpPr txBox="1"/>
          <p:nvPr>
            <p:ph type="title"/>
          </p:nvPr>
        </p:nvSpPr>
        <p:spPr>
          <a:xfrm>
            <a:off x="5801867" y="1947672"/>
            <a:ext cx="10972801" cy="4882801"/>
          </a:xfrm>
          <a:prstGeom prst="rect">
            <a:avLst/>
          </a:prstGeom>
        </p:spPr>
        <p:txBody>
          <a:bodyPr anchor="b"/>
          <a:lstStyle>
            <a:lvl1pPr>
              <a:defRPr sz="8800">
                <a:solidFill>
                  <a:srgbClr val="595959"/>
                </a:solidFill>
              </a:defRPr>
            </a:lvl1pPr>
          </a:lstStyle>
          <a:p>
            <a:pPr/>
            <a:r>
              <a:t>Title Text</a:t>
            </a:r>
          </a:p>
        </p:txBody>
      </p:sp>
      <p:sp>
        <p:nvSpPr>
          <p:cNvPr id="99" name="Body Level One…"/>
          <p:cNvSpPr txBox="1"/>
          <p:nvPr>
            <p:ph type="body" sz="quarter" idx="1"/>
          </p:nvPr>
        </p:nvSpPr>
        <p:spPr>
          <a:xfrm>
            <a:off x="5829300" y="7008876"/>
            <a:ext cx="10972800" cy="1371601"/>
          </a:xfrm>
          <a:prstGeom prst="rect">
            <a:avLst/>
          </a:prstGeom>
        </p:spPr>
        <p:txBody>
          <a:bodyPr anchor="t">
            <a:normAutofit fontScale="100000" lnSpcReduction="0"/>
          </a:bodyPr>
          <a:lstStyle>
            <a:lvl1pPr marL="228600" indent="0">
              <a:buClrTx/>
              <a:buSzTx/>
              <a:buFontTx/>
              <a:buNone/>
              <a:defRPr sz="3300"/>
            </a:lvl1pPr>
            <a:lvl2pPr marL="228600" indent="457200">
              <a:buClrTx/>
              <a:buSzTx/>
              <a:buFontTx/>
              <a:buNone/>
              <a:defRPr sz="3300"/>
            </a:lvl2pPr>
            <a:lvl3pPr marL="228600" indent="914400">
              <a:buClrTx/>
              <a:buSzTx/>
              <a:buFontTx/>
              <a:buNone/>
              <a:defRPr sz="3300"/>
            </a:lvl3pPr>
            <a:lvl4pPr marL="228600" indent="1371600">
              <a:buClrTx/>
              <a:buSzTx/>
              <a:buFontTx/>
              <a:buNone/>
              <a:defRPr sz="3300"/>
            </a:lvl4pPr>
            <a:lvl5pPr marL="228600" indent="1828800">
              <a:buClrTx/>
              <a:buSzTx/>
              <a:buFontTx/>
              <a:buNone/>
              <a:defRPr sz="3300"/>
            </a:lvl5pPr>
          </a:lstStyle>
          <a:p>
            <a:pPr/>
            <a:r>
              <a:t>Body Level One</a:t>
            </a:r>
          </a:p>
          <a:p>
            <a:pPr lvl="1"/>
            <a:r>
              <a:t>Body Level Two</a:t>
            </a:r>
          </a:p>
          <a:p>
            <a:pPr lvl="2"/>
            <a:r>
              <a:t>Body Level Three</a:t>
            </a:r>
          </a:p>
          <a:p>
            <a:pPr lvl="3"/>
            <a:r>
              <a:t>Body Level Four</a:t>
            </a:r>
          </a:p>
          <a:p>
            <a:pPr lvl="4"/>
            <a:r>
              <a:t>Body Level Five</a:t>
            </a:r>
          </a:p>
        </p:txBody>
      </p:sp>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spTree>
      <p:nvGrpSpPr>
        <p:cNvPr id="1" name=""/>
        <p:cNvGrpSpPr/>
        <p:nvPr/>
      </p:nvGrpSpPr>
      <p:grpSpPr>
        <a:xfrm>
          <a:off x="0" y="0"/>
          <a:ext cx="0" cy="0"/>
          <a:chOff x="0" y="0"/>
          <a:chExt cx="0" cy="0"/>
        </a:xfrm>
      </p:grpSpPr>
      <p:sp>
        <p:nvSpPr>
          <p:cNvPr id="107" name="Google Shape;480;p3"/>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108" name="Google Shape;482;p3"/>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109" name="Google Shape;487;p3"/>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110" name="Title Text"/>
          <p:cNvSpPr txBox="1"/>
          <p:nvPr>
            <p:ph type="title"/>
          </p:nvPr>
        </p:nvSpPr>
        <p:spPr>
          <a:xfrm>
            <a:off x="379411" y="1685925"/>
            <a:ext cx="4421101" cy="6900900"/>
          </a:xfrm>
          <a:prstGeom prst="rect">
            <a:avLst/>
          </a:prstGeom>
        </p:spPr>
        <p:txBody>
          <a:bodyPr/>
          <a:lstStyle/>
          <a:p>
            <a:pPr/>
            <a:r>
              <a:t>Title Text</a:t>
            </a:r>
          </a:p>
        </p:txBody>
      </p:sp>
      <p:sp>
        <p:nvSpPr>
          <p:cNvPr id="111" name="Body Level One…"/>
          <p:cNvSpPr txBox="1"/>
          <p:nvPr>
            <p:ph type="body" idx="1"/>
          </p:nvPr>
        </p:nvSpPr>
        <p:spPr>
          <a:xfrm>
            <a:off x="5797550" y="1295400"/>
            <a:ext cx="10972800" cy="7681801"/>
          </a:xfrm>
          <a:prstGeom prst="rect">
            <a:avLst/>
          </a:prstGeom>
        </p:spPr>
        <p:txBody>
          <a:bodyPr>
            <a:normAutofit fontScale="100000" lnSpcReduction="0"/>
          </a:bodyPr>
          <a:lstStyle>
            <a:lvl1pPr indent="-342900"/>
            <a:lvl2pPr marL="952500" indent="-381000"/>
            <a:lvl3pPr marL="1457325" indent="-428625"/>
            <a:lvl4pPr marL="1975757" indent="-489857"/>
            <a:lvl5pPr marL="2432957" indent="-489857"/>
          </a:lstStyle>
          <a:p>
            <a:pPr/>
            <a:r>
              <a:t>Body Level One</a:t>
            </a:r>
          </a:p>
          <a:p>
            <a:pPr lvl="1"/>
            <a:r>
              <a:t>Body Level Two</a:t>
            </a:r>
          </a:p>
          <a:p>
            <a:pPr lvl="2"/>
            <a:r>
              <a:t>Body Level Three</a:t>
            </a:r>
          </a:p>
          <a:p>
            <a:pPr lvl="3"/>
            <a:r>
              <a:t>Body Level Four</a:t>
            </a:r>
          </a:p>
          <a:p>
            <a:pPr lvl="4"/>
            <a:r>
              <a:t>Body Level Five</a:t>
            </a:r>
          </a:p>
        </p:txBody>
      </p:sp>
      <p:sp>
        <p:nvSpPr>
          <p:cNvPr id="1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p:spTree>
      <p:nvGrpSpPr>
        <p:cNvPr id="1" name=""/>
        <p:cNvGrpSpPr/>
        <p:nvPr/>
      </p:nvGrpSpPr>
      <p:grpSpPr>
        <a:xfrm>
          <a:off x="0" y="0"/>
          <a:ext cx="0" cy="0"/>
          <a:chOff x="0" y="0"/>
          <a:chExt cx="0" cy="0"/>
        </a:xfrm>
      </p:grpSpPr>
      <p:sp>
        <p:nvSpPr>
          <p:cNvPr id="119" name="Title Text"/>
          <p:cNvSpPr txBox="1"/>
          <p:nvPr>
            <p:ph type="title"/>
          </p:nvPr>
        </p:nvSpPr>
        <p:spPr>
          <a:xfrm>
            <a:off x="1604772" y="1947672"/>
            <a:ext cx="10972801" cy="4882801"/>
          </a:xfrm>
          <a:prstGeom prst="rect">
            <a:avLst/>
          </a:prstGeom>
        </p:spPr>
        <p:txBody>
          <a:bodyPr anchor="b"/>
          <a:lstStyle>
            <a:lvl1pPr>
              <a:defRPr sz="8800"/>
            </a:lvl1pPr>
          </a:lstStyle>
          <a:p>
            <a:pPr/>
            <a:r>
              <a:t>Title Text</a:t>
            </a:r>
          </a:p>
        </p:txBody>
      </p:sp>
      <p:sp>
        <p:nvSpPr>
          <p:cNvPr id="120" name="Body Level One…"/>
          <p:cNvSpPr txBox="1"/>
          <p:nvPr>
            <p:ph type="body" sz="quarter" idx="1"/>
          </p:nvPr>
        </p:nvSpPr>
        <p:spPr>
          <a:xfrm>
            <a:off x="1650022" y="7005369"/>
            <a:ext cx="10972801" cy="1371601"/>
          </a:xfrm>
          <a:prstGeom prst="rect">
            <a:avLst/>
          </a:prstGeom>
        </p:spPr>
        <p:txBody>
          <a:bodyPr anchor="t">
            <a:normAutofit fontScale="100000" lnSpcReduction="0"/>
          </a:bodyPr>
          <a:lstStyle>
            <a:lvl1pPr marL="419100" indent="-381000">
              <a:buClrTx/>
              <a:buSzTx/>
              <a:buFontTx/>
              <a:buNone/>
              <a:defRPr sz="3300">
                <a:solidFill>
                  <a:srgbClr val="D7F0F6"/>
                </a:solidFill>
              </a:defRPr>
            </a:lvl1pPr>
            <a:lvl2pPr marL="419100" indent="95250">
              <a:buClrTx/>
              <a:buSzTx/>
              <a:buFontTx/>
              <a:buNone/>
              <a:defRPr sz="3300">
                <a:solidFill>
                  <a:srgbClr val="D7F0F6"/>
                </a:solidFill>
              </a:defRPr>
            </a:lvl2pPr>
            <a:lvl3pPr marL="419100" indent="571500">
              <a:buClrTx/>
              <a:buSzTx/>
              <a:buFontTx/>
              <a:buNone/>
              <a:defRPr sz="3300">
                <a:solidFill>
                  <a:srgbClr val="D7F0F6"/>
                </a:solidFill>
              </a:defRPr>
            </a:lvl3pPr>
            <a:lvl4pPr marL="419100" indent="1047750">
              <a:buClrTx/>
              <a:buSzTx/>
              <a:buFontTx/>
              <a:buNone/>
              <a:defRPr sz="3300">
                <a:solidFill>
                  <a:srgbClr val="D7F0F6"/>
                </a:solidFill>
              </a:defRPr>
            </a:lvl4pPr>
            <a:lvl5pPr marL="419100" indent="1504950">
              <a:buClrTx/>
              <a:buSzTx/>
              <a:buFontTx/>
              <a:buNone/>
              <a:defRPr sz="3300">
                <a:solidFill>
                  <a:srgbClr val="D7F0F6"/>
                </a:solidFill>
              </a:defRPr>
            </a:lvl5pPr>
          </a:lstStyle>
          <a:p>
            <a:pPr/>
            <a:r>
              <a:t>Body Level One</a:t>
            </a:r>
          </a:p>
          <a:p>
            <a:pPr lvl="1"/>
            <a:r>
              <a:t>Body Level Two</a:t>
            </a:r>
          </a:p>
          <a:p>
            <a:pPr lvl="2"/>
            <a:r>
              <a:t>Body Level Three</a:t>
            </a:r>
          </a:p>
          <a:p>
            <a:pPr lvl="3"/>
            <a:r>
              <a:t>Body Level Four</a:t>
            </a:r>
          </a:p>
          <a:p>
            <a:pPr lvl="4"/>
            <a:r>
              <a:t>Body Level Five</a:t>
            </a: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28" name="Google Shape;556;p14"/>
          <p:cNvSpPr/>
          <p:nvPr/>
        </p:nvSpPr>
        <p:spPr>
          <a:xfrm>
            <a:off x="0" y="1138236"/>
            <a:ext cx="5165700" cy="7996202"/>
          </a:xfrm>
          <a:prstGeom prst="rect">
            <a:avLst/>
          </a:prstGeom>
          <a:solidFill>
            <a:schemeClr val="accent1"/>
          </a:solidFill>
          <a:ln w="12700">
            <a:miter lim="400000"/>
          </a:ln>
        </p:spPr>
        <p:txBody>
          <a:bodyPr lIns="45719" rIns="45719"/>
          <a:lstStyle/>
          <a:p>
            <a:pPr>
              <a:defRPr sz="1800">
                <a:latin typeface="Corbel"/>
                <a:ea typeface="Corbel"/>
                <a:cs typeface="Corbel"/>
                <a:sym typeface="Corbel"/>
              </a:defRPr>
            </a:pPr>
          </a:p>
        </p:txBody>
      </p:sp>
      <p:sp>
        <p:nvSpPr>
          <p:cNvPr id="129" name="Google Shape;557;p14"/>
          <p:cNvSpPr/>
          <p:nvPr/>
        </p:nvSpPr>
        <p:spPr>
          <a:xfrm>
            <a:off x="17724437" y="1138236"/>
            <a:ext cx="574801" cy="7996202"/>
          </a:xfrm>
          <a:prstGeom prst="rect">
            <a:avLst/>
          </a:prstGeom>
          <a:solidFill>
            <a:srgbClr val="C8C8C8">
              <a:alpha val="49800"/>
            </a:srgbClr>
          </a:solidFill>
          <a:ln w="12700">
            <a:miter lim="400000"/>
          </a:ln>
        </p:spPr>
        <p:txBody>
          <a:bodyPr lIns="45719" rIns="45719"/>
          <a:lstStyle/>
          <a:p>
            <a:pPr>
              <a:defRPr sz="1800">
                <a:latin typeface="Corbel"/>
                <a:ea typeface="Corbel"/>
                <a:cs typeface="Corbel"/>
                <a:sym typeface="Corbel"/>
              </a:defRPr>
            </a:pPr>
          </a:p>
        </p:txBody>
      </p:sp>
      <p:sp>
        <p:nvSpPr>
          <p:cNvPr id="130" name="Google Shape;558;p14"/>
          <p:cNvSpPr/>
          <p:nvPr/>
        </p:nvSpPr>
        <p:spPr>
          <a:xfrm>
            <a:off x="15614649" y="1295400"/>
            <a:ext cx="1155602" cy="1097100"/>
          </a:xfrm>
          <a:prstGeom prst="ellipse">
            <a:avLst/>
          </a:prstGeom>
          <a:blipFill>
            <a:blip r:embed="rId2"/>
            <a:stretch>
              <a:fillRect/>
            </a:stretch>
          </a:blipFill>
          <a:ln w="10775">
            <a:solidFill>
              <a:srgbClr val="154D58"/>
            </a:solidFill>
            <a:miter/>
          </a:ln>
        </p:spPr>
        <p:txBody>
          <a:bodyPr lIns="45719" rIns="45719" anchor="ctr"/>
          <a:lstStyle/>
          <a:p>
            <a:pPr>
              <a:defRPr sz="1800">
                <a:latin typeface="Corbel"/>
                <a:ea typeface="Corbel"/>
                <a:cs typeface="Corbel"/>
                <a:sym typeface="Corbel"/>
              </a:defRPr>
            </a:pPr>
          </a:p>
        </p:txBody>
      </p:sp>
      <p:sp>
        <p:nvSpPr>
          <p:cNvPr id="131" name="Title Text"/>
          <p:cNvSpPr txBox="1"/>
          <p:nvPr>
            <p:ph type="title"/>
          </p:nvPr>
        </p:nvSpPr>
        <p:spPr>
          <a:xfrm>
            <a:off x="384047" y="1714500"/>
            <a:ext cx="4251902" cy="3566101"/>
          </a:xfrm>
          <a:prstGeom prst="rect">
            <a:avLst/>
          </a:prstGeom>
        </p:spPr>
        <p:txBody>
          <a:bodyPr anchor="b"/>
          <a:lstStyle>
            <a:lvl1pPr>
              <a:defRPr sz="4800"/>
            </a:lvl1pPr>
          </a:lstStyle>
          <a:p>
            <a:pPr/>
            <a:r>
              <a:t>Title Text</a:t>
            </a:r>
          </a:p>
        </p:txBody>
      </p:sp>
      <p:sp>
        <p:nvSpPr>
          <p:cNvPr id="132" name="Google Shape;566;p15"/>
          <p:cNvSpPr/>
          <p:nvPr>
            <p:ph type="pic" idx="21"/>
          </p:nvPr>
        </p:nvSpPr>
        <p:spPr>
          <a:xfrm>
            <a:off x="5355966" y="1151128"/>
            <a:ext cx="12172800" cy="7996502"/>
          </a:xfrm>
          <a:prstGeom prst="rect">
            <a:avLst/>
          </a:prstGeom>
        </p:spPr>
        <p:txBody>
          <a:bodyPr lIns="91439" tIns="45719" rIns="91439" bIns="45719" anchor="t"/>
          <a:lstStyle/>
          <a:p>
            <a:pPr/>
          </a:p>
        </p:txBody>
      </p:sp>
      <p:sp>
        <p:nvSpPr>
          <p:cNvPr id="133" name="Body Level One…"/>
          <p:cNvSpPr txBox="1"/>
          <p:nvPr>
            <p:ph type="body" sz="quarter" idx="1"/>
          </p:nvPr>
        </p:nvSpPr>
        <p:spPr>
          <a:xfrm>
            <a:off x="384047" y="5239511"/>
            <a:ext cx="4251902" cy="3483902"/>
          </a:xfrm>
          <a:prstGeom prst="rect">
            <a:avLst/>
          </a:prstGeom>
        </p:spPr>
        <p:txBody>
          <a:bodyPr anchor="t">
            <a:normAutofit fontScale="100000" lnSpcReduction="0"/>
          </a:bodyPr>
          <a:lstStyle>
            <a:lvl1pPr marL="228600" indent="0">
              <a:lnSpc>
                <a:spcPct val="100000"/>
              </a:lnSpc>
              <a:buClrTx/>
              <a:buSzTx/>
              <a:buFontTx/>
              <a:buNone/>
              <a:defRPr sz="2100">
                <a:solidFill>
                  <a:srgbClr val="FFFFFF"/>
                </a:solidFill>
              </a:defRPr>
            </a:lvl1pPr>
            <a:lvl2pPr marL="228600" indent="457200">
              <a:lnSpc>
                <a:spcPct val="100000"/>
              </a:lnSpc>
              <a:buClrTx/>
              <a:buSzTx/>
              <a:buFontTx/>
              <a:buNone/>
              <a:defRPr sz="2100">
                <a:solidFill>
                  <a:srgbClr val="FFFFFF"/>
                </a:solidFill>
              </a:defRPr>
            </a:lvl2pPr>
            <a:lvl3pPr marL="228600" indent="914400">
              <a:lnSpc>
                <a:spcPct val="100000"/>
              </a:lnSpc>
              <a:buClrTx/>
              <a:buSzTx/>
              <a:buFontTx/>
              <a:buNone/>
              <a:defRPr sz="2100">
                <a:solidFill>
                  <a:srgbClr val="FFFFFF"/>
                </a:solidFill>
              </a:defRPr>
            </a:lvl3pPr>
            <a:lvl4pPr marL="228600" indent="1371600">
              <a:lnSpc>
                <a:spcPct val="100000"/>
              </a:lnSpc>
              <a:buClrTx/>
              <a:buSzTx/>
              <a:buFontTx/>
              <a:buNone/>
              <a:defRPr sz="2100">
                <a:solidFill>
                  <a:srgbClr val="FFFFFF"/>
                </a:solidFill>
              </a:defRPr>
            </a:lvl4pPr>
            <a:lvl5pPr marL="228600" indent="1828800">
              <a:lnSpc>
                <a:spcPct val="100000"/>
              </a:lnSpc>
              <a:buClrTx/>
              <a:buSzTx/>
              <a:buFontTx/>
              <a:buNone/>
              <a:defRPr sz="21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1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Google Shape;469;p1" descr="Google Shape;469;p1"/>
          <p:cNvPicPr>
            <a:picLocks noChangeAspect="1"/>
          </p:cNvPicPr>
          <p:nvPr/>
        </p:nvPicPr>
        <p:blipFill>
          <a:blip r:embed="rId2">
            <a:extLst/>
          </a:blip>
          <a:stretch>
            <a:fillRect/>
          </a:stretch>
        </p:blipFill>
        <p:spPr>
          <a:xfrm>
            <a:off x="16078200" y="204786"/>
            <a:ext cx="1322388" cy="1322389"/>
          </a:xfrm>
          <a:prstGeom prst="rect">
            <a:avLst/>
          </a:prstGeom>
          <a:ln w="12700">
            <a:miter lim="400000"/>
          </a:ln>
        </p:spPr>
      </p:pic>
      <p:sp>
        <p:nvSpPr>
          <p:cNvPr id="3" name="Title Text"/>
          <p:cNvSpPr txBox="1"/>
          <p:nvPr>
            <p:ph type="title"/>
          </p:nvPr>
        </p:nvSpPr>
        <p:spPr>
          <a:xfrm>
            <a:off x="914400" y="337232"/>
            <a:ext cx="16459200" cy="186394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4" name="Body Level One…"/>
          <p:cNvSpPr txBox="1"/>
          <p:nvPr>
            <p:ph type="body" idx="1"/>
          </p:nvPr>
        </p:nvSpPr>
        <p:spPr>
          <a:xfrm>
            <a:off x="914400" y="2201180"/>
            <a:ext cx="16459200" cy="718718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7915599" y="9629374"/>
            <a:ext cx="332701" cy="358101"/>
          </a:xfrm>
          <a:prstGeom prst="rect">
            <a:avLst/>
          </a:prstGeom>
          <a:ln w="12700">
            <a:miter lim="400000"/>
          </a:ln>
        </p:spPr>
        <p:txBody>
          <a:bodyPr wrap="none" lIns="45699" tIns="45699" rIns="45699" bIns="45699" anchor="ctr">
            <a:spAutoFit/>
          </a:bodyPr>
          <a:lstStyle>
            <a:lvl1pPr algn="r">
              <a:defRPr sz="1800">
                <a:solidFill>
                  <a:schemeClr val="accent1"/>
                </a:solidFill>
                <a:latin typeface="Corbel"/>
                <a:ea typeface="Corbel"/>
                <a:cs typeface="Corbel"/>
                <a:sym typeface="Corbe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1pPr>
      <a:lvl2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2pPr>
      <a:lvl3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3pPr>
      <a:lvl4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4pPr>
      <a:lvl5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5pPr>
      <a:lvl6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6pPr>
      <a:lvl7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7pPr>
      <a:lvl8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8pPr>
      <a:lvl9pPr marL="0" marR="0" indent="0" algn="l" defTabSz="914400" rtl="0" latinLnBrk="0">
        <a:lnSpc>
          <a:spcPct val="90000"/>
        </a:lnSpc>
        <a:spcBef>
          <a:spcPts val="0"/>
        </a:spcBef>
        <a:spcAft>
          <a:spcPts val="0"/>
        </a:spcAft>
        <a:buClrTx/>
        <a:buSzTx/>
        <a:buFontTx/>
        <a:buNone/>
        <a:tabLst/>
        <a:defRPr b="0" baseline="0" cap="none" i="0" spc="0" strike="noStrike" sz="5400" u="none">
          <a:solidFill>
            <a:srgbClr val="FFFFFF"/>
          </a:solidFill>
          <a:uFillTx/>
          <a:latin typeface="Corbel"/>
          <a:ea typeface="Corbel"/>
          <a:cs typeface="Corbel"/>
          <a:sym typeface="Corbel"/>
        </a:defRPr>
      </a:lvl9pPr>
    </p:titleStyle>
    <p:bodyStyle>
      <a:lvl1pPr marL="457200" marR="0" indent="-41910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1pPr>
      <a:lvl2pPr marL="958850" marR="0" indent="-44450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2pPr>
      <a:lvl3pPr marL="1466850" marR="0" indent="-476250"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3pPr>
      <a:lvl4pPr marL="19839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4pPr>
      <a:lvl5pPr marL="24411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5pPr>
      <a:lvl6pPr marL="28983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6pPr>
      <a:lvl7pPr marL="33555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7pPr>
      <a:lvl8pPr marL="38127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8pPr>
      <a:lvl9pPr marL="4269921" marR="0" indent="-517071" algn="l" defTabSz="914400" rtl="0" latinLnBrk="0">
        <a:lnSpc>
          <a:spcPct val="90000"/>
        </a:lnSpc>
        <a:spcBef>
          <a:spcPts val="1800"/>
        </a:spcBef>
        <a:spcAft>
          <a:spcPts val="0"/>
        </a:spcAft>
        <a:buClr>
          <a:schemeClr val="accent1"/>
        </a:buClr>
        <a:buSzPts val="3000"/>
        <a:buFont typeface="Helvetica"/>
        <a:buChar char="●"/>
        <a:tabLst/>
        <a:defRPr b="0" baseline="0" cap="none" i="0" spc="0" strike="noStrike" sz="3000" u="none">
          <a:solidFill>
            <a:srgbClr val="595959"/>
          </a:solidFill>
          <a:uFillTx/>
          <a:latin typeface="Corbel"/>
          <a:ea typeface="Corbel"/>
          <a:cs typeface="Corbel"/>
          <a:sym typeface="Corbe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1pPr>
      <a:lvl2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2pPr>
      <a:lvl3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3pPr>
      <a:lvl4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4pPr>
      <a:lvl5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5pPr>
      <a:lvl6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6pPr>
      <a:lvl7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7pPr>
      <a:lvl8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8pPr>
      <a:lvl9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orbe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43" name="Google Shape;575;p16"/>
          <p:cNvSpPr txBox="1"/>
          <p:nvPr/>
        </p:nvSpPr>
        <p:spPr>
          <a:xfrm>
            <a:off x="897039" y="7009144"/>
            <a:ext cx="7365901" cy="20236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740"/>
              </a:lnSpc>
              <a:defRPr b="1" sz="2700">
                <a:solidFill>
                  <a:srgbClr val="051D40"/>
                </a:solidFill>
                <a:latin typeface="Times New Roman"/>
                <a:ea typeface="Times New Roman"/>
                <a:cs typeface="Times New Roman"/>
                <a:sym typeface="Times New Roman"/>
              </a:defRPr>
            </a:pPr>
            <a:r>
              <a:t>SUPERVISED BY</a:t>
            </a:r>
          </a:p>
          <a:p>
            <a:pPr>
              <a:lnSpc>
                <a:spcPct val="140740"/>
              </a:lnSpc>
              <a:defRPr b="1" sz="2700">
                <a:solidFill>
                  <a:srgbClr val="051D40"/>
                </a:solidFill>
                <a:latin typeface="Times New Roman"/>
                <a:ea typeface="Times New Roman"/>
                <a:cs typeface="Times New Roman"/>
                <a:sym typeface="Times New Roman"/>
              </a:defRPr>
            </a:pPr>
          </a:p>
          <a:p>
            <a:pPr>
              <a:lnSpc>
                <a:spcPct val="140740"/>
              </a:lnSpc>
              <a:defRPr b="1" sz="2700">
                <a:solidFill>
                  <a:srgbClr val="051D40"/>
                </a:solidFill>
                <a:latin typeface="Times New Roman"/>
                <a:ea typeface="Times New Roman"/>
                <a:cs typeface="Times New Roman"/>
                <a:sym typeface="Times New Roman"/>
              </a:defRPr>
            </a:pPr>
            <a:r>
              <a:t>Mrs.K.Priya,M.E,Assistant Professor</a:t>
            </a:r>
            <a:r>
              <a:t>  </a:t>
            </a:r>
          </a:p>
        </p:txBody>
      </p:sp>
      <p:sp>
        <p:nvSpPr>
          <p:cNvPr id="144" name="Google Shape;576;p16"/>
          <p:cNvSpPr txBox="1"/>
          <p:nvPr/>
        </p:nvSpPr>
        <p:spPr>
          <a:xfrm>
            <a:off x="3629674" y="2214696"/>
            <a:ext cx="11085602" cy="3421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40000"/>
              </a:lnSpc>
              <a:defRPr b="1" sz="2500">
                <a:solidFill>
                  <a:srgbClr val="051D40"/>
                </a:solidFill>
                <a:latin typeface="Times New Roman"/>
                <a:ea typeface="Times New Roman"/>
                <a:cs typeface="Times New Roman"/>
                <a:sym typeface="Times New Roman"/>
              </a:defRPr>
            </a:lvl1pPr>
          </a:lstStyle>
          <a:p>
            <a:pPr/>
            <a:r>
              <a:t>DEPARTMENT OF ARTIFICIAL INTELLIGENCE AND DATA SCIENCE</a:t>
            </a:r>
          </a:p>
        </p:txBody>
      </p:sp>
      <p:sp>
        <p:nvSpPr>
          <p:cNvPr id="145" name="Google Shape;577;p16"/>
          <p:cNvSpPr txBox="1"/>
          <p:nvPr/>
        </p:nvSpPr>
        <p:spPr>
          <a:xfrm>
            <a:off x="6209550" y="1609880"/>
            <a:ext cx="5868900" cy="3421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40000"/>
              </a:lnSpc>
              <a:defRPr b="1" sz="2500">
                <a:solidFill>
                  <a:srgbClr val="051D40"/>
                </a:solidFill>
                <a:latin typeface="Times New Roman"/>
                <a:ea typeface="Times New Roman"/>
                <a:cs typeface="Times New Roman"/>
                <a:sym typeface="Times New Roman"/>
              </a:defRPr>
            </a:lvl1pPr>
          </a:lstStyle>
          <a:p>
            <a:pPr/>
            <a:r>
              <a:t>SCHOOL OF COMPUTING</a:t>
            </a:r>
          </a:p>
        </p:txBody>
      </p:sp>
      <p:sp>
        <p:nvSpPr>
          <p:cNvPr id="146" name="Google Shape;578;p16"/>
          <p:cNvSpPr txBox="1"/>
          <p:nvPr/>
        </p:nvSpPr>
        <p:spPr>
          <a:xfrm>
            <a:off x="6558750" y="2846260"/>
            <a:ext cx="5519701" cy="329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7500"/>
              </a:lnSpc>
              <a:defRPr b="1" sz="2400">
                <a:solidFill>
                  <a:srgbClr val="051D40"/>
                </a:solidFill>
                <a:latin typeface="Times New Roman"/>
                <a:ea typeface="Times New Roman"/>
                <a:cs typeface="Times New Roman"/>
                <a:sym typeface="Times New Roman"/>
              </a:defRPr>
            </a:lvl1pPr>
          </a:lstStyle>
          <a:p>
            <a:pPr/>
            <a:r>
              <a:t>WINTER SEMESTER 2025-2026</a:t>
            </a:r>
          </a:p>
        </p:txBody>
      </p:sp>
      <p:sp>
        <p:nvSpPr>
          <p:cNvPr id="147" name="Google Shape;579;p16"/>
          <p:cNvSpPr txBox="1"/>
          <p:nvPr/>
        </p:nvSpPr>
        <p:spPr>
          <a:xfrm>
            <a:off x="613500" y="3517727"/>
            <a:ext cx="16306801" cy="3421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40000"/>
              </a:lnSpc>
              <a:defRPr b="1" sz="2500">
                <a:solidFill>
                  <a:srgbClr val="051D40"/>
                </a:solidFill>
                <a:latin typeface="Times New Roman"/>
                <a:ea typeface="Times New Roman"/>
                <a:cs typeface="Times New Roman"/>
                <a:sym typeface="Times New Roman"/>
              </a:defRPr>
            </a:lvl1pPr>
          </a:lstStyle>
          <a:p>
            <a:pPr/>
            <a:r>
              <a:t>10214AD701- MAJOR PROJECT INHOUSE</a:t>
            </a:r>
          </a:p>
        </p:txBody>
      </p:sp>
      <p:sp>
        <p:nvSpPr>
          <p:cNvPr id="148" name="Google Shape;580;p16"/>
          <p:cNvSpPr txBox="1"/>
          <p:nvPr/>
        </p:nvSpPr>
        <p:spPr>
          <a:xfrm>
            <a:off x="10238332" y="6812476"/>
            <a:ext cx="7196139" cy="17298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37500"/>
              </a:lnSpc>
              <a:defRPr b="1" sz="2400">
                <a:solidFill>
                  <a:srgbClr val="051D40"/>
                </a:solidFill>
                <a:latin typeface="Times New Roman"/>
                <a:ea typeface="Times New Roman"/>
                <a:cs typeface="Times New Roman"/>
                <a:sym typeface="Times New Roman"/>
              </a:defRPr>
            </a:pPr>
            <a:r>
              <a:t>PRESENTED BY</a:t>
            </a:r>
          </a:p>
          <a:p>
            <a:pPr algn="ctr">
              <a:lnSpc>
                <a:spcPct val="137500"/>
              </a:lnSpc>
              <a:defRPr b="1" sz="2400">
                <a:solidFill>
                  <a:srgbClr val="051D40"/>
                </a:solidFill>
                <a:latin typeface="Times New Roman"/>
                <a:ea typeface="Times New Roman"/>
                <a:cs typeface="Times New Roman"/>
                <a:sym typeface="Times New Roman"/>
              </a:defRPr>
            </a:pPr>
            <a:r>
              <a:t>1. MUTHARASI A  (VTU22774) (22UEAD0038)</a:t>
            </a:r>
          </a:p>
          <a:p>
            <a:pPr algn="ctr">
              <a:lnSpc>
                <a:spcPct val="137500"/>
              </a:lnSpc>
              <a:defRPr b="1" sz="2400">
                <a:solidFill>
                  <a:srgbClr val="051D40"/>
                </a:solidFill>
                <a:latin typeface="Times New Roman"/>
                <a:ea typeface="Times New Roman"/>
                <a:cs typeface="Times New Roman"/>
                <a:sym typeface="Times New Roman"/>
              </a:defRPr>
            </a:pPr>
            <a:r>
              <a:t>2. ANITHA D (VTU21542) (22UEAD0002)</a:t>
            </a:r>
          </a:p>
        </p:txBody>
      </p:sp>
      <p:sp>
        <p:nvSpPr>
          <p:cNvPr id="149" name="Google Shape;581;p16"/>
          <p:cNvSpPr txBox="1"/>
          <p:nvPr/>
        </p:nvSpPr>
        <p:spPr>
          <a:xfrm>
            <a:off x="439424" y="9652741"/>
            <a:ext cx="4023352"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a:t>
            </a:r>
          </a:p>
        </p:txBody>
      </p:sp>
      <p:sp>
        <p:nvSpPr>
          <p:cNvPr id="150" name="Google Shape;582;p16"/>
          <p:cNvSpPr txBox="1"/>
          <p:nvPr>
            <p:ph type="sldNum" sz="quarter" idx="4294967295"/>
          </p:nvPr>
        </p:nvSpPr>
        <p:spPr>
          <a:xfrm>
            <a:off x="18029899" y="9634230"/>
            <a:ext cx="218401" cy="348390"/>
          </a:xfrm>
          <a:prstGeom prst="rect">
            <a:avLst/>
          </a:prstGeom>
          <a:extLst>
            <a:ext uri="{C572A759-6A51-4108-AA02-DFA0A04FC94B}">
              <ma14:wrappingTextBoxFlag xmlns:ma14="http://schemas.microsoft.com/office/mac/drawingml/2011/main" val="1"/>
            </a:ext>
          </a:extLst>
        </p:spPr>
        <p:txBody>
          <a:bodyPr/>
          <a:lstStyle>
            <a:lvl1pPr>
              <a:defRPr b="1">
                <a:latin typeface="Times New Roman"/>
                <a:ea typeface="Times New Roman"/>
                <a:cs typeface="Times New Roman"/>
                <a:sym typeface="Times New Roman"/>
              </a:defRPr>
            </a:lvl1pPr>
          </a:lstStyle>
          <a:p>
            <a:pPr/>
            <a:fld id="{86CB4B4D-7CA3-9044-876B-883B54F8677D}" type="slidenum"/>
          </a:p>
        </p:txBody>
      </p:sp>
      <p:sp>
        <p:nvSpPr>
          <p:cNvPr id="151"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
        <p:nvSpPr>
          <p:cNvPr id="152" name="Google Shape;584;p16"/>
          <p:cNvSpPr txBox="1"/>
          <p:nvPr/>
        </p:nvSpPr>
        <p:spPr>
          <a:xfrm>
            <a:off x="2105675" y="5847786"/>
            <a:ext cx="14133600" cy="513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58333"/>
              </a:lnSpc>
              <a:defRPr b="1" sz="3600">
                <a:latin typeface="Times New Roman"/>
                <a:ea typeface="Times New Roman"/>
                <a:cs typeface="Times New Roman"/>
                <a:sym typeface="Times New Roman"/>
              </a:defRPr>
            </a:lvl1pPr>
          </a:lstStyle>
          <a:p>
            <a:pPr/>
            <a:r>
              <a:t>SEMESTER END REVIEW</a:t>
            </a:r>
          </a:p>
        </p:txBody>
      </p:sp>
      <p:sp>
        <p:nvSpPr>
          <p:cNvPr id="153" name="Google Shape;585;p16"/>
          <p:cNvSpPr txBox="1"/>
          <p:nvPr/>
        </p:nvSpPr>
        <p:spPr>
          <a:xfrm>
            <a:off x="4613824" y="4158921"/>
            <a:ext cx="9060352" cy="151774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lnSpc>
                <a:spcPct val="139024"/>
              </a:lnSpc>
              <a:defRPr b="1" sz="4100">
                <a:solidFill>
                  <a:srgbClr val="051D40"/>
                </a:solidFill>
                <a:latin typeface="Times New Roman"/>
                <a:ea typeface="Times New Roman"/>
                <a:cs typeface="Times New Roman"/>
                <a:sym typeface="Times New Roman"/>
              </a:defRPr>
            </a:lvl1pPr>
          </a:lstStyle>
          <a:p>
            <a:pPr/>
            <a:r>
              <a:t>“Real Time Suspicious Activity Detection Using CNN And LSTM”</a:t>
            </a:r>
          </a:p>
        </p:txBody>
      </p:sp>
      <p:pic>
        <p:nvPicPr>
          <p:cNvPr id="154" name="Picture 1" descr="Picture 1"/>
          <p:cNvPicPr>
            <a:picLocks noChangeAspect="1"/>
          </p:cNvPicPr>
          <p:nvPr/>
        </p:nvPicPr>
        <p:blipFill>
          <a:blip r:embed="rId2">
            <a:extLst/>
          </a:blip>
          <a:stretch>
            <a:fillRect/>
          </a:stretch>
        </p:blipFill>
        <p:spPr>
          <a:xfrm>
            <a:off x="6353240" y="154093"/>
            <a:ext cx="4419469" cy="134275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56" name="Google Shape;591;p17"/>
          <p:cNvSpPr txBox="1"/>
          <p:nvPr/>
        </p:nvSpPr>
        <p:spPr>
          <a:xfrm>
            <a:off x="6705600" y="-15876"/>
            <a:ext cx="4572000" cy="787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8461"/>
              </a:lnSpc>
              <a:defRPr b="1" sz="5200">
                <a:latin typeface="Open Sans ExtraBold"/>
                <a:ea typeface="Open Sans ExtraBold"/>
                <a:cs typeface="Open Sans ExtraBold"/>
                <a:sym typeface="Open Sans ExtraBold"/>
              </a:defRPr>
            </a:lvl1pPr>
          </a:lstStyle>
          <a:p>
            <a:pPr/>
            <a:r>
              <a:t>CONTENT</a:t>
            </a:r>
          </a:p>
        </p:txBody>
      </p:sp>
      <p:sp>
        <p:nvSpPr>
          <p:cNvPr id="157" name="Google Shape;592;p17"/>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58" name="Google Shape;593;p17"/>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9" name="Google Shape;595;p17"/>
          <p:cNvSpPr txBox="1"/>
          <p:nvPr/>
        </p:nvSpPr>
        <p:spPr>
          <a:xfrm>
            <a:off x="673509" y="1287854"/>
            <a:ext cx="15047240" cy="719343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2400"/>
            </a:pPr>
          </a:p>
          <a:p>
            <a:pPr indent="-152400">
              <a:buClr>
                <a:srgbClr val="000000"/>
              </a:buClr>
              <a:buSzPts val="2400"/>
              <a:buFont typeface="Arial"/>
              <a:buChar char="•"/>
              <a:defRPr b="1" sz="2400"/>
            </a:pPr>
            <a:r>
              <a:t>Introduction</a:t>
            </a:r>
          </a:p>
          <a:p>
            <a:pPr indent="-152400">
              <a:buClr>
                <a:srgbClr val="000000"/>
              </a:buClr>
              <a:buSzPts val="2400"/>
              <a:buFont typeface="Arial"/>
              <a:buChar char="•"/>
              <a:defRPr b="1" sz="2400"/>
            </a:pPr>
            <a:r>
              <a:t>Objective of the Project</a:t>
            </a:r>
          </a:p>
          <a:p>
            <a:pPr indent="-152400">
              <a:buClr>
                <a:srgbClr val="000000"/>
              </a:buClr>
              <a:buSzPts val="2400"/>
              <a:buFont typeface="Arial"/>
              <a:buChar char="•"/>
              <a:defRPr b="1" sz="2400"/>
            </a:pPr>
            <a:r>
              <a:t>Literature Review / Existing System</a:t>
            </a:r>
          </a:p>
          <a:p>
            <a:pPr indent="-152400">
              <a:buClr>
                <a:srgbClr val="000000"/>
              </a:buClr>
              <a:buSzPts val="2400"/>
              <a:buFont typeface="Arial"/>
              <a:buChar char="•"/>
              <a:defRPr b="1" sz="2400"/>
            </a:pPr>
            <a:r>
              <a:t>Literature Review Summary</a:t>
            </a:r>
          </a:p>
          <a:p>
            <a:pPr indent="-152400">
              <a:buClr>
                <a:srgbClr val="000000"/>
              </a:buClr>
              <a:buSzPts val="2400"/>
              <a:buFont typeface="Arial"/>
              <a:buChar char="•"/>
              <a:defRPr b="1" sz="2400"/>
            </a:pPr>
            <a:r>
              <a:t>Proposed System</a:t>
            </a:r>
          </a:p>
          <a:p>
            <a:pPr indent="-152400">
              <a:buClr>
                <a:srgbClr val="000000"/>
              </a:buClr>
              <a:buSzPts val="2400"/>
              <a:buFont typeface="Arial"/>
              <a:buChar char="•"/>
              <a:defRPr b="1" sz="2400"/>
            </a:pPr>
            <a:r>
              <a:t>Methodology / Architecture</a:t>
            </a:r>
          </a:p>
          <a:p>
            <a:pPr indent="-152400">
              <a:buClr>
                <a:srgbClr val="000000"/>
              </a:buClr>
              <a:buSzPts val="2400"/>
              <a:buFont typeface="Arial"/>
              <a:buChar char="•"/>
              <a:defRPr b="1" sz="2400"/>
            </a:pPr>
            <a:r>
              <a:t>Algorithm with Description</a:t>
            </a:r>
          </a:p>
          <a:p>
            <a:pPr indent="-152400">
              <a:buClr>
                <a:srgbClr val="000000"/>
              </a:buClr>
              <a:buSzPts val="2400"/>
              <a:buFont typeface="Arial"/>
              <a:buChar char="•"/>
              <a:defRPr b="1" sz="2400"/>
            </a:pPr>
            <a:r>
              <a:t>Implementation</a:t>
            </a:r>
          </a:p>
          <a:p>
            <a:pPr indent="-152400">
              <a:buClr>
                <a:srgbClr val="000000"/>
              </a:buClr>
              <a:buSzPts val="2400"/>
              <a:buFont typeface="Arial"/>
              <a:buChar char="•"/>
              <a:defRPr b="1" sz="2400"/>
            </a:pPr>
            <a:r>
              <a:t>Testing &amp; Validation</a:t>
            </a:r>
          </a:p>
          <a:p>
            <a:pPr indent="-152400">
              <a:buClr>
                <a:srgbClr val="000000"/>
              </a:buClr>
              <a:buSzPts val="2400"/>
              <a:buFont typeface="Arial"/>
              <a:buChar char="•"/>
              <a:defRPr b="1" sz="2400"/>
            </a:pPr>
            <a:r>
              <a:t>Results &amp; Analysis</a:t>
            </a:r>
          </a:p>
          <a:p>
            <a:pPr indent="-152400">
              <a:buClr>
                <a:srgbClr val="000000"/>
              </a:buClr>
              <a:buSzPts val="2400"/>
              <a:buFont typeface="Arial"/>
              <a:buChar char="•"/>
              <a:defRPr b="1" sz="2400"/>
            </a:pPr>
            <a:r>
              <a:t>Sustainable Development Goals(SDG)</a:t>
            </a:r>
          </a:p>
          <a:p>
            <a:pPr indent="-152400">
              <a:buClr>
                <a:srgbClr val="000000"/>
              </a:buClr>
              <a:buSzPts val="2400"/>
              <a:buFont typeface="Arial"/>
              <a:buChar char="•"/>
              <a:defRPr b="1" sz="2400"/>
            </a:pPr>
            <a:r>
              <a:t>Demonstration/Prototype Showcase</a:t>
            </a:r>
          </a:p>
          <a:p>
            <a:pPr indent="-152400">
              <a:buClr>
                <a:srgbClr val="000000"/>
              </a:buClr>
              <a:buSzPts val="2400"/>
              <a:buFont typeface="Arial"/>
              <a:buChar char="•"/>
              <a:defRPr b="1" sz="2400"/>
            </a:pPr>
            <a:r>
              <a:t>Challenges Encountered &amp; Solutions</a:t>
            </a:r>
          </a:p>
          <a:p>
            <a:pPr indent="-152400">
              <a:buClr>
                <a:srgbClr val="000000"/>
              </a:buClr>
              <a:buSzPts val="2400"/>
              <a:buFont typeface="Arial"/>
              <a:buChar char="•"/>
              <a:defRPr b="1" sz="2400"/>
            </a:pPr>
            <a:r>
              <a:t>Advantages</a:t>
            </a:r>
          </a:p>
          <a:p>
            <a:pPr indent="-152400">
              <a:buClr>
                <a:srgbClr val="000000"/>
              </a:buClr>
              <a:buSzPts val="2400"/>
              <a:buFont typeface="Arial"/>
              <a:buChar char="•"/>
              <a:defRPr b="1" sz="2400"/>
            </a:pPr>
            <a:r>
              <a:t>Limitations &amp; Future Scope</a:t>
            </a:r>
          </a:p>
          <a:p>
            <a:pPr indent="-152400">
              <a:buClr>
                <a:srgbClr val="000000"/>
              </a:buClr>
              <a:buSzPts val="2400"/>
              <a:buFont typeface="Arial"/>
              <a:buChar char="•"/>
              <a:defRPr b="1" sz="2400"/>
            </a:pPr>
            <a:r>
              <a:t>Conclusion</a:t>
            </a:r>
          </a:p>
          <a:p>
            <a:pPr indent="-152400">
              <a:buClr>
                <a:srgbClr val="000000"/>
              </a:buClr>
              <a:buSzPts val="2400"/>
              <a:buFont typeface="Arial"/>
              <a:buChar char="•"/>
              <a:defRPr b="1" sz="2400"/>
            </a:pPr>
            <a:r>
              <a:t>YouTube Demonstration Video URL &amp; GitHub Link</a:t>
            </a:r>
          </a:p>
          <a:p>
            <a:pPr indent="-152400">
              <a:buClr>
                <a:srgbClr val="000000"/>
              </a:buClr>
              <a:buSzPts val="2400"/>
              <a:buFont typeface="Arial"/>
              <a:buChar char="•"/>
              <a:defRPr b="1" sz="2400"/>
            </a:pPr>
            <a:r>
              <a:t>Placement offer letter /Internship offer letter/Completion certificate</a:t>
            </a:r>
          </a:p>
          <a:p>
            <a:pPr indent="-152400">
              <a:buClr>
                <a:srgbClr val="000000"/>
              </a:buClr>
              <a:buSzPts val="2400"/>
              <a:buFont typeface="Arial"/>
              <a:buChar char="•"/>
              <a:defRPr b="1" sz="2400"/>
            </a:pPr>
            <a:r>
              <a:t>References</a:t>
            </a:r>
          </a:p>
        </p:txBody>
      </p:sp>
      <p:sp>
        <p:nvSpPr>
          <p:cNvPr id="160"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62" name="Google Shape;600;p18"/>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Introduction</a:t>
            </a:r>
          </a:p>
        </p:txBody>
      </p:sp>
      <p:sp>
        <p:nvSpPr>
          <p:cNvPr id="163" name="Google Shape;601;p18"/>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64" name="Google Shape;602;p18"/>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5" name="Google Shape;604;p18"/>
          <p:cNvSpPr txBox="1"/>
          <p:nvPr/>
        </p:nvSpPr>
        <p:spPr>
          <a:xfrm>
            <a:off x="741966" y="1932880"/>
            <a:ext cx="15910551" cy="634713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55570" indent="-25557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48">
                <a:latin typeface="Times New Roman"/>
                <a:ea typeface="Times New Roman"/>
                <a:cs typeface="Times New Roman"/>
                <a:sym typeface="Times New Roman"/>
              </a:defRPr>
            </a:pPr>
            <a:r>
              <a:t>Public safety monitoring in busy places like transportation centres, markets, and large gatherings presents significant challenges due to occlusion, complex crowd dynamics, and insufficient human oversight.</a:t>
            </a:r>
          </a:p>
          <a:p>
            <a:pPr marL="255139" indent="-255139"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48">
                <a:latin typeface="Times New Roman"/>
                <a:ea typeface="Times New Roman"/>
                <a:cs typeface="Times New Roman"/>
                <a:sym typeface="Times New Roman"/>
              </a:defRPr>
            </a:pPr>
            <a:r>
              <a:t>The theft detection module monitors the spatial relationship between individuals and their belongings, flagging events .</a:t>
            </a:r>
          </a:p>
          <a:p>
            <a:pPr marL="143907" indent="-143907"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48">
                <a:latin typeface="Times New Roman"/>
                <a:ea typeface="Times New Roman"/>
                <a:cs typeface="Times New Roman"/>
                <a:sym typeface="Times New Roman"/>
              </a:defRPr>
            </a:pPr>
            <a:r>
              <a:t>Evaluations conducted on standard benchmark datasets—UCSD Anomaly Detection, Avenue, and Violent-Flows—as</a:t>
            </a:r>
          </a:p>
          <a:p>
            <a:pPr marL="145281" indent="-14528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48">
                <a:latin typeface="Times New Roman"/>
                <a:ea typeface="Times New Roman"/>
                <a:cs typeface="Times New Roman"/>
                <a:sym typeface="Times New Roman"/>
              </a:defRPr>
            </a:pPr>
            <a:r>
              <a:t>well as custom CCTV footage demonstrate that SafeCrowd Vision achieves high accuracy and sufficient frame rates for practical deployment within smart city surveillance infrastructure.</a:t>
            </a:r>
          </a:p>
          <a:p>
            <a:pPr marL="255570" indent="-25557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48">
                <a:latin typeface="Times New Roman"/>
                <a:ea typeface="Times New Roman"/>
                <a:cs typeface="Times New Roman"/>
                <a:sym typeface="Times New Roman"/>
              </a:defRPr>
            </a:pPr>
            <a:r>
              <a:t>Concurrently, an audio analysis module processes sound signals extracted from video streams using Root Mean Square (RMS) energy and Zero-Crossing Rate (ZCR) to detect shouts and sudden acoustic anomalies. </a:t>
            </a:r>
          </a:p>
        </p:txBody>
      </p:sp>
      <p:sp>
        <p:nvSpPr>
          <p:cNvPr id="166"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68" name="Google Shape;609;p19"/>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Objective of the Project</a:t>
            </a:r>
          </a:p>
        </p:txBody>
      </p:sp>
      <p:sp>
        <p:nvSpPr>
          <p:cNvPr id="169" name="Google Shape;610;p19"/>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70" name="Google Shape;611;p19"/>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1" name="Google Shape;613;p19"/>
          <p:cNvSpPr txBox="1"/>
          <p:nvPr/>
        </p:nvSpPr>
        <p:spPr>
          <a:xfrm>
            <a:off x="1026327" y="2430513"/>
            <a:ext cx="15910551" cy="498607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55570" indent="-25557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48">
                <a:latin typeface="Times New Roman"/>
                <a:ea typeface="Times New Roman"/>
                <a:cs typeface="Times New Roman"/>
                <a:sym typeface="Times New Roman"/>
              </a:defRPr>
            </a:pPr>
            <a:r>
              <a:t>The primary objective of this project is to design and implement a real-time multimodal surveillance system capable of automatically detecting suspicious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48">
                <a:latin typeface="Times New Roman"/>
                <a:ea typeface="Times New Roman"/>
                <a:cs typeface="Times New Roman"/>
                <a:sym typeface="Times New Roman"/>
              </a:defRPr>
            </a:pPr>
            <a:r>
              <a:t>activities—including theft, violence, and audio anomalies—in crowded public environments. </a:t>
            </a:r>
          </a:p>
          <a:p>
            <a:pPr marL="252693" indent="-252693"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48">
                <a:latin typeface="Times New Roman"/>
                <a:ea typeface="Times New Roman"/>
                <a:cs typeface="Times New Roman"/>
                <a:sym typeface="Times New Roman"/>
              </a:defRPr>
            </a:pPr>
            <a:r>
              <a:t>Specific objectives of the project include: (i) integrating YOLOv8 for high-speed object detection of persons, bags, and other belongings in live video streams; (ii) employing DeepSORT.</a:t>
            </a:r>
          </a:p>
          <a:p>
            <a:pPr marL="145281" indent="-14528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748">
                <a:latin typeface="Times New Roman"/>
                <a:ea typeface="Times New Roman"/>
                <a:cs typeface="Times New Roman"/>
                <a:sym typeface="Times New Roman"/>
              </a:defRPr>
            </a:pPr>
            <a:r>
              <a:t>Implementing an audio analysis module that processes RMS energy and Zero-Crossing Rate to detect acoustic anomalies such as shouting in real time.</a:t>
            </a:r>
          </a:p>
        </p:txBody>
      </p:sp>
      <p:sp>
        <p:nvSpPr>
          <p:cNvPr id="172"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74" name="Google Shape;618;p20"/>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 Literature Review / Existing System</a:t>
            </a:r>
          </a:p>
        </p:txBody>
      </p:sp>
      <p:sp>
        <p:nvSpPr>
          <p:cNvPr id="175" name="Google Shape;619;p20"/>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76" name="Google Shape;620;p20"/>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7" name="Google Shape;622;p20"/>
          <p:cNvSpPr txBox="1"/>
          <p:nvPr/>
        </p:nvSpPr>
        <p:spPr>
          <a:xfrm>
            <a:off x="919692" y="1915108"/>
            <a:ext cx="15910551" cy="637577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74971" indent="-27497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2">
                <a:latin typeface="Times New Roman"/>
                <a:ea typeface="Times New Roman"/>
                <a:cs typeface="Times New Roman"/>
                <a:sym typeface="Times New Roman"/>
              </a:defRPr>
            </a:pPr>
            <a:r>
              <a:t>Redmon et al. [r1] introduced YOLO (You Only Look Once), a unified real-time object detection framework that reformulated detection as a single regression problem from image pixels to bounding box coordinates and class probabilities. By processing the entire image in one forward pass, YOLO achieved inference speeds orders of magnitude faster than region-proposal-based methods, laying the foundation for real-time surveillance applications. The subsequent YOLOv4 variant by Bochkovskiy et al. [r2] introduced a suite of training enhancements—including CSPDarknet53 backbone, PANet neck, and a bag of specials—that substantially improved accuracy while maintaining real-time throughput, demonstrating that detection quality and speed need not be in conflict.</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2">
                <a:latin typeface="Times New Roman"/>
                <a:ea typeface="Times New Roman"/>
                <a:cs typeface="Times New Roman"/>
                <a:sym typeface="Times New Roman"/>
              </a:defRPr>
            </a:pPr>
          </a:p>
          <a:p>
            <a:pPr marL="275623" indent="-275623"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9">
                <a:latin typeface="Times New Roman"/>
                <a:ea typeface="Times New Roman"/>
                <a:cs typeface="Times New Roman"/>
                <a:sym typeface="Times New Roman"/>
              </a:defRPr>
            </a:pPr>
            <a:r>
              <a:t>Existing automated surveillance systems can be broadly categorised into three paradigms: optical flow-based anomaly detection, convolutional autoencoder-based regularity modelling, and single-modality deep learning classifiers. Optical flow methods compute dense motion fields between consecutive frames and flag regions whose flow characteristics deviate from learned normal patterns. While computationally lightweight, these methods are highly sensitive to camera motion and background clutter, and exhibit limited discriminability between visually similar normal and abnormal motions—achieving F1 scores in the range of 0.63 on real-world benchmarks..</a:t>
            </a:r>
          </a:p>
        </p:txBody>
      </p:sp>
      <p:sp>
        <p:nvSpPr>
          <p:cNvPr id="178"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80" name="Google Shape;627;p21"/>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Literature Review Summary</a:t>
            </a:r>
          </a:p>
        </p:txBody>
      </p:sp>
      <p:sp>
        <p:nvSpPr>
          <p:cNvPr id="181" name="Google Shape;628;p21"/>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82" name="Google Shape;629;p21"/>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3" name="Screenshot 2026-04-17 at 19.46.40.png" descr="Screenshot 2026-04-17 at 19.46.40.png"/>
          <p:cNvPicPr>
            <a:picLocks noChangeAspect="1"/>
          </p:cNvPicPr>
          <p:nvPr/>
        </p:nvPicPr>
        <p:blipFill>
          <a:blip r:embed="rId2">
            <a:extLst/>
          </a:blip>
          <a:stretch>
            <a:fillRect/>
          </a:stretch>
        </p:blipFill>
        <p:spPr>
          <a:xfrm>
            <a:off x="659553" y="1887584"/>
            <a:ext cx="15746541" cy="5896128"/>
          </a:xfrm>
          <a:prstGeom prst="rect">
            <a:avLst/>
          </a:prstGeom>
          <a:ln w="12700">
            <a:solidFill>
              <a:srgbClr val="DDDDDD"/>
            </a:solidFill>
            <a:miter lim="400000"/>
          </a:ln>
        </p:spPr>
      </p:pic>
      <p:sp>
        <p:nvSpPr>
          <p:cNvPr id="184"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86" name="Google Shape;638;p22"/>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Proposed System</a:t>
            </a:r>
          </a:p>
        </p:txBody>
      </p:sp>
      <p:sp>
        <p:nvSpPr>
          <p:cNvPr id="187" name="Google Shape;639;p22"/>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88" name="Google Shape;640;p22"/>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9" name="Google Shape;642;p22"/>
          <p:cNvSpPr txBox="1"/>
          <p:nvPr/>
        </p:nvSpPr>
        <p:spPr>
          <a:xfrm>
            <a:off x="1417324" y="1790700"/>
            <a:ext cx="15910552" cy="594289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145281" indent="-14528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49">
                <a:latin typeface="Times New Roman"/>
                <a:ea typeface="Times New Roman"/>
                <a:cs typeface="Times New Roman"/>
                <a:sym typeface="Times New Roman"/>
              </a:defRPr>
            </a:pPr>
            <a:r>
              <a:t>SafeCrowd Vision is a real-time multimodal surveillance system that addresses the shortcomings of existing approaches by integrating deep learning-based objectdetection, multi-object tracking, temporal behaviour modelling, and acoustic event detection into a single unified pipeline. </a:t>
            </a:r>
          </a:p>
          <a:p>
            <a:pPr marL="145130" indent="-14513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49">
                <a:latin typeface="Times New Roman"/>
                <a:ea typeface="Times New Roman"/>
                <a:cs typeface="Times New Roman"/>
                <a:sym typeface="Times New Roman"/>
              </a:defRPr>
            </a:pPr>
          </a:p>
          <a:p>
            <a:pPr marL="142403" indent="-142403"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49">
                <a:latin typeface="Times New Roman"/>
                <a:ea typeface="Times New Roman"/>
                <a:cs typeface="Times New Roman"/>
                <a:sym typeface="Times New Roman"/>
              </a:defRPr>
            </a:pPr>
            <a:r>
              <a:t>The proposed architecture is modular by design, enabling individual components to be upgraded or replaced without requiring full system redesign. YOLOv8,fine-tuned on surveillance-specific object categories including persons, bags, and suitcases, provides precise bounding-box predictions at frame rates exceeding 30 FPS on contemporary GPU hardware.</a:t>
            </a:r>
          </a:p>
          <a:p>
            <a:pPr marL="145281" indent="-14528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49">
                <a:latin typeface="Times New Roman"/>
                <a:ea typeface="Times New Roman"/>
                <a:cs typeface="Times New Roman"/>
                <a:sym typeface="Times New Roman"/>
              </a:defRPr>
            </a:pPr>
          </a:p>
          <a:p>
            <a:pPr marL="145281" indent="-14528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949">
                <a:latin typeface="Times New Roman"/>
                <a:ea typeface="Times New Roman"/>
                <a:cs typeface="Times New Roman"/>
                <a:sym typeface="Times New Roman"/>
              </a:defRPr>
            </a:pPr>
            <a:r>
              <a:t>Real-time processing at 45 FPSon GPU hardware; multimodal detection covering theft, violence, and audio anomalies in a single pipeline; persistent multi-object tracking that reduces identityconfusion; audio-visual fusion improving robustness under visual degradation; modular architecture compatible with existing CCTV infrastructure; scalability tomulti-camera deployments; and automated alert generation with event logging forensic review.</a:t>
            </a:r>
          </a:p>
        </p:txBody>
      </p:sp>
      <p:sp>
        <p:nvSpPr>
          <p:cNvPr id="190"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192" name="Google Shape;647;p23"/>
          <p:cNvSpPr txBox="1"/>
          <p:nvPr/>
        </p:nvSpPr>
        <p:spPr>
          <a:xfrm>
            <a:off x="1752600" y="342900"/>
            <a:ext cx="124968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Methodology / Architecture</a:t>
            </a:r>
          </a:p>
        </p:txBody>
      </p:sp>
      <p:sp>
        <p:nvSpPr>
          <p:cNvPr id="193" name="Google Shape;648;p23"/>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194" name="Google Shape;649;p23"/>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5"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pic>
        <p:nvPicPr>
          <p:cNvPr id="196" name="Architecture Diagram.jpeg" descr="Architecture Diagram.jpeg"/>
          <p:cNvPicPr>
            <a:picLocks noChangeAspect="1"/>
          </p:cNvPicPr>
          <p:nvPr/>
        </p:nvPicPr>
        <p:blipFill>
          <a:blip r:embed="rId2">
            <a:extLst/>
          </a:blip>
          <a:stretch>
            <a:fillRect/>
          </a:stretch>
        </p:blipFill>
        <p:spPr>
          <a:xfrm>
            <a:off x="1514935" y="1588503"/>
            <a:ext cx="5554294" cy="7431038"/>
          </a:xfrm>
          <a:prstGeom prst="rect">
            <a:avLst/>
          </a:prstGeom>
          <a:ln w="12700">
            <a:miter lim="400000"/>
          </a:ln>
        </p:spPr>
      </p:pic>
      <p:sp>
        <p:nvSpPr>
          <p:cNvPr id="197" name="1. Camera / CCTV Captures real-time video and audio.…"/>
          <p:cNvSpPr txBox="1"/>
          <p:nvPr/>
        </p:nvSpPr>
        <p:spPr>
          <a:xfrm>
            <a:off x="9054536" y="2751032"/>
            <a:ext cx="7300725" cy="411709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just" defTabSz="1371600">
              <a:defRPr b="1" sz="2400">
                <a:latin typeface="Times New Roman"/>
                <a:ea typeface="Times New Roman"/>
                <a:cs typeface="Times New Roman"/>
                <a:sym typeface="Times New Roman"/>
              </a:defRPr>
            </a:pPr>
            <a:r>
              <a:t>1. Camera / CCTV Captures real-time video and audio.</a:t>
            </a:r>
          </a:p>
          <a:p>
            <a:pPr defTabSz="457200">
              <a:spcBef>
                <a:spcPts val="1200"/>
              </a:spcBef>
              <a:defRPr sz="2400">
                <a:latin typeface="Times New Roman"/>
                <a:ea typeface="Times New Roman"/>
                <a:cs typeface="Times New Roman"/>
                <a:sym typeface="Times New Roman"/>
              </a:defRPr>
            </a:pPr>
            <a:r>
              <a:rPr b="1"/>
              <a:t>2. Object Detection (YOLOv8)</a:t>
            </a:r>
            <a:br/>
            <a:r>
              <a:t>Detects people and objects in video.</a:t>
            </a:r>
          </a:p>
          <a:p>
            <a:pPr defTabSz="457200">
              <a:spcBef>
                <a:spcPts val="1200"/>
              </a:spcBef>
              <a:defRPr sz="2400">
                <a:latin typeface="Times New Roman"/>
                <a:ea typeface="Times New Roman"/>
                <a:cs typeface="Times New Roman"/>
                <a:sym typeface="Times New Roman"/>
              </a:defRPr>
            </a:pPr>
            <a:r>
              <a:rPr b="1"/>
              <a:t>3. Object Tracking (DeepSORT)</a:t>
            </a:r>
            <a:br/>
            <a:r>
              <a:t>Tracks movement of people and objects.</a:t>
            </a:r>
          </a:p>
          <a:p>
            <a:pPr defTabSz="457200">
              <a:spcBef>
                <a:spcPts val="1200"/>
              </a:spcBef>
              <a:defRPr sz="2400">
                <a:latin typeface="Times New Roman"/>
                <a:ea typeface="Times New Roman"/>
                <a:cs typeface="Times New Roman"/>
                <a:sym typeface="Times New Roman"/>
              </a:defRPr>
            </a:pPr>
            <a:r>
              <a:rPr b="1"/>
              <a:t>4. Behavior Analysis (LSTM)</a:t>
            </a:r>
            <a:br/>
            <a:r>
              <a:t>Detects suspicious behavior.</a:t>
            </a:r>
          </a:p>
          <a:p>
            <a:pPr defTabSz="457200">
              <a:spcBef>
                <a:spcPts val="1200"/>
              </a:spcBef>
              <a:defRPr sz="2400">
                <a:latin typeface="Times New Roman"/>
                <a:ea typeface="Times New Roman"/>
                <a:cs typeface="Times New Roman"/>
                <a:sym typeface="Times New Roman"/>
              </a:defRPr>
            </a:pPr>
            <a:r>
              <a:rPr b="1"/>
              <a:t>5. Alert System</a:t>
            </a:r>
            <a:br/>
            <a:r>
              <a:t>Sends warning messages.</a:t>
            </a:r>
          </a:p>
        </p:txBody>
      </p:sp>
      <p:sp>
        <p:nvSpPr>
          <p:cNvPr id="198" name="Tools:"/>
          <p:cNvSpPr txBox="1"/>
          <p:nvPr/>
        </p:nvSpPr>
        <p:spPr>
          <a:xfrm>
            <a:off x="8982206" y="1607878"/>
            <a:ext cx="1014523" cy="49489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sz="2000">
                <a:latin typeface="Times New Roman"/>
                <a:ea typeface="Times New Roman"/>
                <a:cs typeface="Times New Roman"/>
                <a:sym typeface="Times New Roman"/>
              </a:defRPr>
            </a:pPr>
            <a:r>
              <a:rPr sz="2900"/>
              <a:t>Tools</a:t>
            </a:r>
            <a:r>
              <a: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00" name="Google Shape;656;p24"/>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01" name="Google Shape;657;p24"/>
          <p:cNvSpPr txBox="1"/>
          <p:nvPr>
            <p:ph type="sldNum" sz="quarter" idx="4294967295"/>
          </p:nvPr>
        </p:nvSpPr>
        <p:spPr>
          <a:xfrm>
            <a:off x="18029899" y="9629375"/>
            <a:ext cx="2184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2" name="Google Shape;659;p24"/>
          <p:cNvSpPr txBox="1"/>
          <p:nvPr/>
        </p:nvSpPr>
        <p:spPr>
          <a:xfrm>
            <a:off x="1645924" y="1181099"/>
            <a:ext cx="10805152" cy="70812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defRPr b="1" sz="4400"/>
            </a:lvl1pPr>
          </a:lstStyle>
          <a:p>
            <a:pPr/>
            <a:r>
              <a:t>Algorithm with Description</a:t>
            </a:r>
          </a:p>
        </p:txBody>
      </p:sp>
      <p:sp>
        <p:nvSpPr>
          <p:cNvPr id="203"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pic>
        <p:nvPicPr>
          <p:cNvPr id="204" name="Screenshot 2026-04-17 at 19.59.39.png" descr="Screenshot 2026-04-17 at 19.59.39.png"/>
          <p:cNvPicPr>
            <a:picLocks noChangeAspect="1"/>
          </p:cNvPicPr>
          <p:nvPr/>
        </p:nvPicPr>
        <p:blipFill>
          <a:blip r:embed="rId2">
            <a:extLst/>
          </a:blip>
          <a:stretch>
            <a:fillRect/>
          </a:stretch>
        </p:blipFill>
        <p:spPr>
          <a:xfrm>
            <a:off x="1103660" y="2186490"/>
            <a:ext cx="7597237" cy="6642505"/>
          </a:xfrm>
          <a:prstGeom prst="rect">
            <a:avLst/>
          </a:prstGeom>
          <a:ln w="12700">
            <a:miter lim="400000"/>
          </a:ln>
        </p:spPr>
      </p:pic>
      <p:pic>
        <p:nvPicPr>
          <p:cNvPr id="205" name="Screenshot 2026-04-17 at 19.59.50.png" descr="Screenshot 2026-04-17 at 19.59.50.png"/>
          <p:cNvPicPr>
            <a:picLocks noChangeAspect="1"/>
          </p:cNvPicPr>
          <p:nvPr/>
        </p:nvPicPr>
        <p:blipFill>
          <a:blip r:embed="rId3">
            <a:extLst/>
          </a:blip>
          <a:stretch>
            <a:fillRect/>
          </a:stretch>
        </p:blipFill>
        <p:spPr>
          <a:xfrm>
            <a:off x="8405942" y="2051619"/>
            <a:ext cx="7874250" cy="4837349"/>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07" name="Google Shape;675;p26"/>
          <p:cNvSpPr txBox="1"/>
          <p:nvPr/>
        </p:nvSpPr>
        <p:spPr>
          <a:xfrm>
            <a:off x="1295400" y="1257299"/>
            <a:ext cx="12725400"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800"/>
            </a:lvl1pPr>
          </a:lstStyle>
          <a:p>
            <a:pPr/>
            <a:r>
              <a:t>Implementation</a:t>
            </a:r>
          </a:p>
        </p:txBody>
      </p:sp>
      <p:sp>
        <p:nvSpPr>
          <p:cNvPr id="208" name="Google Shape;677;p26"/>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09" name="Google Shape;681;p26"/>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10" name="Google Shape;682;p26"/>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1" name="Google Shape;684;p26"/>
          <p:cNvSpPr txBox="1"/>
          <p:nvPr/>
        </p:nvSpPr>
        <p:spPr>
          <a:xfrm>
            <a:off x="939353" y="1967223"/>
            <a:ext cx="15605751" cy="76752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Step 1: Environment Setup</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Install the required software environment by performing the following steps: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Install Python 3.10 and create a virtual environment: python safecrowd env.</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Activate the environment and install dependencies: pip install ultralytics deep-sort-realtime torch torchvision opencv-python librosa sounddevice numpy</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Step 2: Data Preparation and Model Training.</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Prepare the training datasets and fine-tune the detection model:</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Download the UCSD Anomaly Detection, Avenue, and Violent-Flows datasets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from their respective repositories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Convert dataset annotations to YOLO format (class-id, cx, cy, w, h normalised by</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image dimensions)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Fine-tune YOLOv8n on the surveillance dataset: yolo train</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model=yolov8n.pt data=safecrowd.yaml epochs=100</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imgsz=640</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Extract kinematic feature sequences from the Violent-Flows dataset and train the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LSTM classifier using the provided train lstm.py script</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Calibrate audio thresholds using the provided calibrate audio.py script</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on representative audio samples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234.5.3 Step 3: System Execution and Testing</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Deploy and test the complete SafeCrowd Vision pipeline: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Connect the surveillance camera or specify the path to a test video file in</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config.yaml</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 Launch the main detection pipeline: python main.py --source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rtsp://camera ip/stream or python main.py --source</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95">
                <a:latin typeface="Times New Roman"/>
                <a:ea typeface="Times New Roman"/>
                <a:cs typeface="Times New Roman"/>
                <a:sym typeface="Times New Roman"/>
              </a:defRPr>
            </a:pPr>
            <a:r>
              <a:t>test video.mp4</a:t>
            </a:r>
          </a:p>
        </p:txBody>
      </p:sp>
      <p:sp>
        <p:nvSpPr>
          <p:cNvPr id="212"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14" name="Google Shape;689;p27"/>
          <p:cNvSpPr txBox="1"/>
          <p:nvPr/>
        </p:nvSpPr>
        <p:spPr>
          <a:xfrm>
            <a:off x="1295400" y="1257300"/>
            <a:ext cx="12725400" cy="678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b="1" sz="4800">
                <a:solidFill>
                  <a:srgbClr val="051D40"/>
                </a:solidFill>
              </a:defRPr>
            </a:lvl1pPr>
          </a:lstStyle>
          <a:p>
            <a:pPr/>
            <a:r>
              <a:t>Testing &amp; Validation</a:t>
            </a:r>
          </a:p>
        </p:txBody>
      </p:sp>
      <p:sp>
        <p:nvSpPr>
          <p:cNvPr id="215" name="Google Shape;691;p27"/>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16" name="Google Shape;695;p27"/>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17" name="Google Shape;696;p27"/>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8" name="Google Shape;698;p27"/>
          <p:cNvSpPr txBox="1"/>
          <p:nvPr/>
        </p:nvSpPr>
        <p:spPr>
          <a:xfrm>
            <a:off x="1341124" y="2400300"/>
            <a:ext cx="15605752" cy="598260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28600" indent="-228600"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49">
                <a:latin typeface="Times New Roman"/>
                <a:ea typeface="Times New Roman"/>
                <a:cs typeface="Times New Roman"/>
                <a:sym typeface="Times New Roman"/>
              </a:defRPr>
            </a:pPr>
            <a:r>
              <a:t>SafeCrowd Vision was evaluated using a three-tier testing strategy. Unit testingverified the correctness of individual algorithmic components—YOLOv8 detection, DeepSORT tracking, LSTM classification, and audio feature extraction—using fixed synthetic inputs with known expected outputs. Integration testing verified the correctness of data handoffs between pipeline stages, specifically that detection outputs were correctly formatted for tracker consumption and that track outputs were correctly formatted for the behavioural analysis modules. System testing evaluated end-to-end performance on complete surveillance video sequences with known ground-truth event annotations.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49">
                <a:latin typeface="Times New Roman"/>
                <a:ea typeface="Times New Roman"/>
                <a:cs typeface="Times New Roman"/>
                <a:sym typeface="Times New Roman"/>
              </a:defRPr>
            </a:pP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49">
                <a:latin typeface="Times New Roman"/>
                <a:ea typeface="Times New Roman"/>
                <a:cs typeface="Times New Roman"/>
                <a:sym typeface="Times New Roman"/>
              </a:defRPr>
            </a:pPr>
          </a:p>
          <a:p>
            <a:pPr marL="245544" indent="-245544"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49">
                <a:latin typeface="Times New Roman"/>
                <a:ea typeface="Times New Roman"/>
                <a:cs typeface="Times New Roman"/>
                <a:sym typeface="Times New Roman"/>
              </a:defRPr>
            </a:pPr>
            <a:r>
              <a:t>Three dataset categories were employed in system testing: standard benchmark datasets (UCSD Anomaly Detection, Avenue, Violent-Flows), custom synthetic scenarios (staged bag theft, staged fighting recorded under controlled conditions), and real-world CCTV footage from public spaces. The system was tested across a range of hardware configurations—NVIDIA RTX 4090, NVIDIA RTX 3080, and NVIDIA Jetson Xavier—to characterise performance scaling. All performance metrics were computed on a held-out test partition not used during model training or threshold calibration.</a:t>
            </a:r>
          </a:p>
        </p:txBody>
      </p:sp>
      <p:sp>
        <p:nvSpPr>
          <p:cNvPr id="219"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DFD"/>
        </a:solidFill>
      </p:bgPr>
    </p:bg>
    <p:spTree>
      <p:nvGrpSpPr>
        <p:cNvPr id="1" name=""/>
        <p:cNvGrpSpPr/>
        <p:nvPr/>
      </p:nvGrpSpPr>
      <p:grpSpPr>
        <a:xfrm>
          <a:off x="0" y="0"/>
          <a:ext cx="0" cy="0"/>
          <a:chOff x="0" y="0"/>
          <a:chExt cx="0" cy="0"/>
        </a:xfrm>
      </p:grpSpPr>
      <p:sp>
        <p:nvSpPr>
          <p:cNvPr id="221" name="Google Shape;703;p28"/>
          <p:cNvSpPr txBox="1"/>
          <p:nvPr/>
        </p:nvSpPr>
        <p:spPr>
          <a:xfrm>
            <a:off x="1295400" y="1257299"/>
            <a:ext cx="12725400"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sz="4800"/>
            </a:lvl1pPr>
          </a:lstStyle>
          <a:p>
            <a:pPr/>
            <a:r>
              <a:t>Results &amp; Analysis</a:t>
            </a:r>
          </a:p>
        </p:txBody>
      </p:sp>
      <p:sp>
        <p:nvSpPr>
          <p:cNvPr id="222" name="Google Shape;705;p28"/>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23" name="Google Shape;709;p28"/>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24" name="Google Shape;710;p28"/>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5" name="Google Shape;713;p28"/>
          <p:cNvSpPr txBox="1"/>
          <p:nvPr/>
        </p:nvSpPr>
        <p:spPr>
          <a:xfrm>
            <a:off x="1574834" y="2997940"/>
            <a:ext cx="14259652" cy="55884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144699" indent="-144699"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3">
                <a:latin typeface="Times New Roman"/>
                <a:ea typeface="Times New Roman"/>
                <a:cs typeface="Times New Roman"/>
                <a:sym typeface="Times New Roman"/>
              </a:defRPr>
            </a:pPr>
            <a:r>
              <a:t>The theft detection module correctly identified 92.6% of staged bag-snatching events in the custom test set. In real-world CCTV footage, accuracy was marginally</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3">
                <a:latin typeface="Times New Roman"/>
                <a:ea typeface="Times New Roman"/>
                <a:cs typeface="Times New Roman"/>
                <a:sym typeface="Times New Roman"/>
              </a:defRPr>
            </a:pPr>
            <a:r>
              <a:t>lower due to the inherent difficulty of detecting subtle theft methods such as pickpocketing that do not produce significant bounding box displacement. </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3">
                <a:latin typeface="Times New Roman"/>
                <a:ea typeface="Times New Roman"/>
                <a:cs typeface="Times New Roman"/>
                <a:sym typeface="Times New Roman"/>
              </a:defRPr>
            </a:pPr>
          </a:p>
          <a:p>
            <a:pPr marL="145281" indent="-14528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3">
                <a:latin typeface="Times New Roman"/>
                <a:ea typeface="Times New Roman"/>
                <a:cs typeface="Times New Roman"/>
                <a:sym typeface="Times New Roman"/>
              </a:defRPr>
            </a:pPr>
            <a:r>
              <a:t>Bag disappearance events—where a bag was removed from the scene within a two-secondwindow—were detected in 93% of test cases. The violence detection module achievedan AUC of 0.91 on the Violent-Flows benchmark, reflecting strong discriminability between violent and non-violent motion patterns.</a:t>
            </a:r>
          </a:p>
          <a:p>
            <a:pPr algn="just"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3">
                <a:latin typeface="Times New Roman"/>
                <a:ea typeface="Times New Roman"/>
                <a:cs typeface="Times New Roman"/>
                <a:sym typeface="Times New Roman"/>
              </a:defRPr>
            </a:pPr>
          </a:p>
          <a:p>
            <a:pPr marL="145281" indent="-145281" algn="just" defTabSz="12700">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743">
                <a:latin typeface="Times New Roman"/>
                <a:ea typeface="Times New Roman"/>
                <a:cs typeface="Times New Roman"/>
                <a:sym typeface="Times New Roman"/>
              </a:defRPr>
            </a:pPr>
            <a:r>
              <a:t> In real-world test footage, 87%of violent events were correctly detected. The audio analysis module produced an   lower rate of false positives in controlled test environments but exhibited elevated false alarm rates in high ambient noise conditions, consistent with the limitations of threshold-based acoustic feature analysis.</a:t>
            </a:r>
          </a:p>
        </p:txBody>
      </p:sp>
      <p:sp>
        <p:nvSpPr>
          <p:cNvPr id="226"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Google Shape;718;p29"/>
          <p:cNvSpPr txBox="1"/>
          <p:nvPr/>
        </p:nvSpPr>
        <p:spPr>
          <a:xfrm>
            <a:off x="723900" y="1085849"/>
            <a:ext cx="16840200"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b="1" sz="4800"/>
            </a:lvl1pPr>
          </a:lstStyle>
          <a:p>
            <a:pPr/>
            <a:r>
              <a:t>Results &amp; Analysis</a:t>
            </a:r>
          </a:p>
        </p:txBody>
      </p:sp>
      <p:sp>
        <p:nvSpPr>
          <p:cNvPr id="229" name="Google Shape;720;p29"/>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30" name="Google Shape;722;p29"/>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31" name="Google Shape;723;p29"/>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2"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pic>
        <p:nvPicPr>
          <p:cNvPr id="233" name="output.png" descr="output.png"/>
          <p:cNvPicPr>
            <a:picLocks noChangeAspect="1"/>
          </p:cNvPicPr>
          <p:nvPr/>
        </p:nvPicPr>
        <p:blipFill>
          <a:blip r:embed="rId2">
            <a:extLst/>
          </a:blip>
          <a:stretch>
            <a:fillRect/>
          </a:stretch>
        </p:blipFill>
        <p:spPr>
          <a:xfrm>
            <a:off x="2609300" y="3061910"/>
            <a:ext cx="12045922" cy="416318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Google Shape;744;p31"/>
          <p:cNvSpPr txBox="1"/>
          <p:nvPr/>
        </p:nvSpPr>
        <p:spPr>
          <a:xfrm>
            <a:off x="723900" y="1085849"/>
            <a:ext cx="16840200"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31250"/>
              </a:lnSpc>
              <a:defRPr b="1" sz="4800"/>
            </a:lvl1pPr>
          </a:lstStyle>
          <a:p>
            <a:pPr/>
            <a:r>
              <a:t>Results &amp; Analysis</a:t>
            </a:r>
          </a:p>
        </p:txBody>
      </p:sp>
      <p:sp>
        <p:nvSpPr>
          <p:cNvPr id="236" name="Google Shape;746;p31"/>
          <p:cNvSpPr/>
          <p:nvPr/>
        </p:nvSpPr>
        <p:spPr>
          <a:xfrm>
            <a:off x="14700250" y="7073900"/>
            <a:ext cx="5946770" cy="5946770"/>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37" name="Google Shape;748;p31"/>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38" name="Google Shape;749;p31"/>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9" name="Confusion Matrix.png" descr="Confusion Matrix.png"/>
          <p:cNvPicPr>
            <a:picLocks noChangeAspect="1"/>
          </p:cNvPicPr>
          <p:nvPr/>
        </p:nvPicPr>
        <p:blipFill>
          <a:blip r:embed="rId2">
            <a:extLst/>
          </a:blip>
          <a:stretch>
            <a:fillRect/>
          </a:stretch>
        </p:blipFill>
        <p:spPr>
          <a:xfrm>
            <a:off x="1423987" y="2775575"/>
            <a:ext cx="5537201" cy="4991101"/>
          </a:xfrm>
          <a:prstGeom prst="rect">
            <a:avLst/>
          </a:prstGeom>
          <a:ln w="12700">
            <a:miter lim="400000"/>
          </a:ln>
        </p:spPr>
      </p:pic>
      <p:pic>
        <p:nvPicPr>
          <p:cNvPr id="240" name="Prediction Distribution.png" descr="Prediction Distribution.png"/>
          <p:cNvPicPr>
            <a:picLocks noChangeAspect="1"/>
          </p:cNvPicPr>
          <p:nvPr/>
        </p:nvPicPr>
        <p:blipFill>
          <a:blip r:embed="rId3">
            <a:extLst/>
          </a:blip>
          <a:stretch>
            <a:fillRect/>
          </a:stretch>
        </p:blipFill>
        <p:spPr>
          <a:xfrm>
            <a:off x="9958386" y="3012093"/>
            <a:ext cx="5918201" cy="4673601"/>
          </a:xfrm>
          <a:prstGeom prst="rect">
            <a:avLst/>
          </a:prstGeom>
          <a:ln w="12700">
            <a:miter lim="400000"/>
          </a:ln>
        </p:spPr>
      </p:pic>
      <p:sp>
        <p:nvSpPr>
          <p:cNvPr id="241"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Google Shape;759;p32"/>
          <p:cNvSpPr/>
          <p:nvPr/>
        </p:nvSpPr>
        <p:spPr>
          <a:xfrm>
            <a:off x="-2124075" y="-234632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44" name="Google Shape;762;p32"/>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45" name="Google Shape;764;p32"/>
          <p:cNvSpPr txBox="1"/>
          <p:nvPr/>
        </p:nvSpPr>
        <p:spPr>
          <a:xfrm>
            <a:off x="5416550" y="1885950"/>
            <a:ext cx="7455000"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9215"/>
              </a:lnSpc>
              <a:defRPr b="1" sz="5100">
                <a:solidFill>
                  <a:srgbClr val="FDFDFD"/>
                </a:solidFill>
                <a:latin typeface="Open Sans ExtraBold"/>
                <a:ea typeface="Open Sans ExtraBold"/>
                <a:cs typeface="Open Sans ExtraBold"/>
                <a:sym typeface="Open Sans ExtraBold"/>
              </a:defRPr>
            </a:lvl1pPr>
          </a:lstStyle>
          <a:p>
            <a:pPr/>
            <a:r>
              <a:t>Concept In Business</a:t>
            </a:r>
          </a:p>
        </p:txBody>
      </p:sp>
      <p:sp>
        <p:nvSpPr>
          <p:cNvPr id="246" name="Google Shape;765;p32"/>
          <p:cNvSpPr txBox="1"/>
          <p:nvPr/>
        </p:nvSpPr>
        <p:spPr>
          <a:xfrm>
            <a:off x="968374" y="590624"/>
            <a:ext cx="14043002"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83333"/>
              </a:lnSpc>
              <a:defRPr b="1" sz="4800"/>
            </a:lvl1pPr>
          </a:lstStyle>
          <a:p>
            <a:pPr/>
            <a:r>
              <a:t>Demonstration/Prototype Showcase</a:t>
            </a:r>
          </a:p>
        </p:txBody>
      </p:sp>
      <p:sp>
        <p:nvSpPr>
          <p:cNvPr id="247" name="Google Shape;766;p32"/>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48" name="Google Shape;767;p32"/>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9" name="Google Shape;769;p32"/>
          <p:cNvSpPr txBox="1"/>
          <p:nvPr/>
        </p:nvSpPr>
        <p:spPr>
          <a:xfrm>
            <a:off x="987124" y="1462009"/>
            <a:ext cx="16313752" cy="789078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500">
                <a:latin typeface="Times Roman"/>
                <a:ea typeface="Times Roman"/>
                <a:cs typeface="Times Roman"/>
                <a:sym typeface="Times Roman"/>
              </a:defRPr>
            </a:pPr>
            <a:r>
              <a:t>Visual Demonstration</a:t>
            </a:r>
          </a:p>
          <a:p>
            <a:pPr marL="457200" indent="-317500" defTabSz="457200">
              <a:buSzPct val="100000"/>
              <a:buFont typeface="Times Roman"/>
              <a:buChar char="•"/>
              <a:defRPr sz="2500">
                <a:latin typeface="Times Roman"/>
                <a:ea typeface="Times Roman"/>
                <a:cs typeface="Times Roman"/>
                <a:sym typeface="Times Roman"/>
              </a:defRPr>
            </a:pPr>
            <a:r>
              <a:t>Real-time surveillance dashboard displaying live video feed</a:t>
            </a:r>
          </a:p>
          <a:p>
            <a:pPr marL="457200" indent="-317500" defTabSz="457200">
              <a:buSzPct val="100000"/>
              <a:buFont typeface="Times Roman"/>
              <a:buChar char="•"/>
              <a:defRPr sz="2500">
                <a:latin typeface="Times Roman"/>
                <a:ea typeface="Times Roman"/>
                <a:cs typeface="Times Roman"/>
                <a:sym typeface="Times Roman"/>
              </a:defRPr>
            </a:pPr>
            <a:r>
              <a:t>Bounding boxes for detected objects (person, bag, etc.) using YOLOv8</a:t>
            </a:r>
          </a:p>
          <a:p>
            <a:pPr defTabSz="457200">
              <a:spcBef>
                <a:spcPts val="1400"/>
              </a:spcBef>
              <a:defRPr b="1" sz="2700">
                <a:latin typeface="Times Roman"/>
                <a:ea typeface="Times Roman"/>
                <a:cs typeface="Times Roman"/>
                <a:sym typeface="Times Roman"/>
              </a:defRPr>
            </a:pPr>
            <a:r>
              <a:t>Live Demonstration</a:t>
            </a:r>
          </a:p>
          <a:p>
            <a:pPr marL="457200" indent="-317500" defTabSz="457200">
              <a:buSzPct val="100000"/>
              <a:buFont typeface="Times Roman"/>
              <a:buChar char="•"/>
              <a:defRPr sz="2700">
                <a:latin typeface="Times Roman"/>
                <a:ea typeface="Times Roman"/>
                <a:cs typeface="Times Roman"/>
                <a:sym typeface="Times Roman"/>
              </a:defRPr>
            </a:pPr>
            <a:r>
              <a:t>System processes live or recorded CCTV footage</a:t>
            </a:r>
          </a:p>
          <a:p>
            <a:pPr marL="457200" indent="-317500" defTabSz="457200">
              <a:buSzPct val="100000"/>
              <a:buFont typeface="Times Roman"/>
              <a:buChar char="•"/>
              <a:defRPr sz="2700">
                <a:latin typeface="Times Roman"/>
                <a:ea typeface="Times Roman"/>
                <a:cs typeface="Times Roman"/>
                <a:sym typeface="Times Roman"/>
              </a:defRPr>
            </a:pPr>
            <a:r>
              <a:t>Detects suspicious activities in real-time</a:t>
            </a:r>
          </a:p>
          <a:p>
            <a:pPr defTabSz="457200">
              <a:spcBef>
                <a:spcPts val="1400"/>
              </a:spcBef>
              <a:defRPr b="1" sz="2500">
                <a:latin typeface="Times Roman"/>
                <a:ea typeface="Times Roman"/>
                <a:cs typeface="Times Roman"/>
                <a:sym typeface="Times Roman"/>
              </a:defRPr>
            </a:pPr>
            <a:r>
              <a:t>Functionality Highlights</a:t>
            </a:r>
          </a:p>
          <a:p>
            <a:pPr marL="457200" indent="-317500" defTabSz="457200">
              <a:buSzPct val="100000"/>
              <a:buFont typeface="Times Roman"/>
              <a:buChar char="•"/>
              <a:defRPr sz="2500">
                <a:latin typeface="Times Roman"/>
                <a:ea typeface="Times Roman"/>
                <a:cs typeface="Times Roman"/>
                <a:sym typeface="Times Roman"/>
              </a:defRPr>
            </a:pPr>
            <a:r>
              <a:rPr b="1"/>
              <a:t>Object Detection:</a:t>
            </a:r>
            <a:r>
              <a:t> Identifies people and objects using YOLOv8</a:t>
            </a:r>
          </a:p>
          <a:p>
            <a:pPr marL="457200" indent="-317500" defTabSz="457200">
              <a:buSzPct val="100000"/>
              <a:buFont typeface="Times Roman"/>
              <a:buChar char="•"/>
              <a:defRPr sz="2500">
                <a:latin typeface="Times Roman"/>
                <a:ea typeface="Times Roman"/>
                <a:cs typeface="Times Roman"/>
                <a:sym typeface="Times Roman"/>
              </a:defRPr>
            </a:pPr>
            <a:r>
              <a:rPr b="1"/>
              <a:t>Tracking:</a:t>
            </a:r>
            <a:r>
              <a:t> Tracks movement using DeepSORT with unique IDs</a:t>
            </a:r>
          </a:p>
          <a:p>
            <a:pPr marL="457200" indent="-317500" defTabSz="457200">
              <a:buSzPct val="100000"/>
              <a:buFont typeface="Times Roman"/>
              <a:buChar char="•"/>
              <a:defRPr sz="2500">
                <a:latin typeface="Times Roman"/>
                <a:ea typeface="Times Roman"/>
                <a:cs typeface="Times Roman"/>
                <a:sym typeface="Times Roman"/>
              </a:defRPr>
            </a:pPr>
            <a:r>
              <a:rPr b="1"/>
              <a:t>Behavior Analysis:</a:t>
            </a:r>
            <a:r>
              <a:t> Uses LSTM to detect abnormal actions</a:t>
            </a:r>
          </a:p>
          <a:p>
            <a:pPr marL="457200" indent="-317500" defTabSz="457200">
              <a:buSzPct val="100000"/>
              <a:buFont typeface="Times Roman"/>
              <a:buChar char="•"/>
              <a:defRPr sz="2500">
                <a:latin typeface="Times Roman"/>
                <a:ea typeface="Times Roman"/>
                <a:cs typeface="Times Roman"/>
                <a:sym typeface="Times Roman"/>
              </a:defRPr>
            </a:pPr>
            <a:r>
              <a:rPr b="1"/>
              <a:t>Audio Detection:</a:t>
            </a:r>
            <a:r>
              <a:t> Identifies loud or abnormal sounds (RMS, ZCR)</a:t>
            </a:r>
          </a:p>
          <a:p>
            <a:pPr marL="457200" indent="-317500" defTabSz="457200">
              <a:buSzPct val="100000"/>
              <a:buFont typeface="Times Roman"/>
              <a:buChar char="•"/>
              <a:defRPr sz="2500">
                <a:latin typeface="Times Roman"/>
                <a:ea typeface="Times Roman"/>
                <a:cs typeface="Times Roman"/>
                <a:sym typeface="Times Roman"/>
              </a:defRPr>
            </a:pPr>
            <a:r>
              <a:rPr b="1"/>
              <a:t>Alert System:</a:t>
            </a:r>
            <a:r>
              <a:t> Displays real-time alerts for security response</a:t>
            </a:r>
          </a:p>
          <a:p>
            <a:pPr defTabSz="457200">
              <a:spcBef>
                <a:spcPts val="1200"/>
              </a:spcBef>
              <a:defRPr sz="2500">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User Experience (UX) Considerations</a:t>
            </a:r>
          </a:p>
          <a:p>
            <a:pPr marL="457200" indent="-317500" defTabSz="457200">
              <a:buSzPct val="100000"/>
              <a:buFont typeface="Times Roman"/>
              <a:buChar char="•"/>
              <a:defRPr sz="2500">
                <a:latin typeface="Times Roman"/>
                <a:ea typeface="Times Roman"/>
                <a:cs typeface="Times Roman"/>
                <a:sym typeface="Times Roman"/>
              </a:defRPr>
            </a:pPr>
            <a:r>
              <a:t>Clean and simple interface for easy monitoring</a:t>
            </a:r>
          </a:p>
          <a:p>
            <a:pPr marL="457200" indent="-317500" defTabSz="457200">
              <a:buSzPct val="100000"/>
              <a:buFont typeface="Times Roman"/>
              <a:buChar char="•"/>
              <a:defRPr sz="2500">
                <a:latin typeface="Times Roman"/>
                <a:ea typeface="Times Roman"/>
                <a:cs typeface="Times Roman"/>
                <a:sym typeface="Times Roman"/>
              </a:defRPr>
            </a:pPr>
            <a:r>
              <a:t>Real-time alerts highlighted clearly for quick attention</a:t>
            </a:r>
          </a:p>
          <a:p>
            <a:pPr marL="457200" indent="-317500" defTabSz="457200">
              <a:buSzPct val="100000"/>
              <a:buFont typeface="Times Roman"/>
              <a:buChar char="•"/>
              <a:defRPr sz="2500">
                <a:latin typeface="Times Roman"/>
                <a:ea typeface="Times Roman"/>
                <a:cs typeface="Times Roman"/>
                <a:sym typeface="Times Roman"/>
              </a:defRPr>
            </a:pPr>
            <a:r>
              <a:t>Minimal delay ensures smooth user experience</a:t>
            </a:r>
          </a:p>
          <a:p>
            <a:pPr marL="457200" indent="-317500" defTabSz="457200">
              <a:buSzPct val="100000"/>
              <a:buFont typeface="Times Roman"/>
              <a:buChar char="•"/>
              <a:defRPr sz="2500">
                <a:latin typeface="Times Roman"/>
                <a:ea typeface="Times Roman"/>
                <a:cs typeface="Times Roman"/>
                <a:sym typeface="Times Roman"/>
              </a:defRPr>
            </a:pPr>
            <a:r>
              <a:t>Designed for non-technical users (security personnel)</a:t>
            </a:r>
          </a:p>
        </p:txBody>
      </p:sp>
      <p:sp>
        <p:nvSpPr>
          <p:cNvPr id="250"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Google Shape;807;p35"/>
          <p:cNvSpPr/>
          <p:nvPr/>
        </p:nvSpPr>
        <p:spPr>
          <a:xfrm>
            <a:off x="-2124075" y="-234632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53" name="Google Shape;810;p35"/>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54" name="Google Shape;812;p35"/>
          <p:cNvSpPr txBox="1"/>
          <p:nvPr/>
        </p:nvSpPr>
        <p:spPr>
          <a:xfrm>
            <a:off x="5416550" y="1885950"/>
            <a:ext cx="7455000"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9215"/>
              </a:lnSpc>
              <a:defRPr b="1" sz="5100">
                <a:solidFill>
                  <a:srgbClr val="FDFDFD"/>
                </a:solidFill>
                <a:latin typeface="Open Sans ExtraBold"/>
                <a:ea typeface="Open Sans ExtraBold"/>
                <a:cs typeface="Open Sans ExtraBold"/>
                <a:sym typeface="Open Sans ExtraBold"/>
              </a:defRPr>
            </a:lvl1pPr>
          </a:lstStyle>
          <a:p>
            <a:pPr/>
            <a:r>
              <a:t>Concept In Business</a:t>
            </a:r>
          </a:p>
        </p:txBody>
      </p:sp>
      <p:sp>
        <p:nvSpPr>
          <p:cNvPr id="255" name="Google Shape;813;p35"/>
          <p:cNvSpPr txBox="1"/>
          <p:nvPr/>
        </p:nvSpPr>
        <p:spPr>
          <a:xfrm>
            <a:off x="968374" y="1162049"/>
            <a:ext cx="14043002" cy="678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83333"/>
              </a:lnSpc>
              <a:defRPr b="1" sz="4800"/>
            </a:lvl1pPr>
          </a:lstStyle>
          <a:p>
            <a:pPr/>
            <a:r>
              <a:t>Demonstration/Prototype Showcase</a:t>
            </a:r>
          </a:p>
        </p:txBody>
      </p:sp>
      <p:sp>
        <p:nvSpPr>
          <p:cNvPr id="256" name="Google Shape;814;p35"/>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57" name="Google Shape;815;p35"/>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8" name="Google Shape;817;p35"/>
          <p:cNvSpPr txBox="1"/>
          <p:nvPr/>
        </p:nvSpPr>
        <p:spPr>
          <a:xfrm>
            <a:off x="1018861" y="1885950"/>
            <a:ext cx="16313752" cy="1128468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100">
                <a:latin typeface="Times Roman"/>
                <a:ea typeface="Times Roman"/>
                <a:cs typeface="Times Roman"/>
                <a:sym typeface="Times Roman"/>
              </a:defRPr>
            </a:pPr>
            <a:r>
              <a:t>Clarity and Simplicity</a:t>
            </a:r>
          </a:p>
          <a:p>
            <a:pPr marL="457200" indent="-317500" defTabSz="457200">
              <a:buSzPct val="100000"/>
              <a:buFont typeface="Times Roman"/>
              <a:buChar char="•"/>
              <a:defRPr sz="2100">
                <a:latin typeface="Times Roman"/>
                <a:ea typeface="Times Roman"/>
                <a:cs typeface="Times Roman"/>
                <a:sym typeface="Times Roman"/>
              </a:defRPr>
            </a:pPr>
            <a:r>
              <a:t>Present system flow clearly (Detection → Tracking → Alert)</a:t>
            </a:r>
          </a:p>
          <a:p>
            <a:pPr marL="457200" indent="-317500" defTabSz="457200">
              <a:buSzPct val="100000"/>
              <a:buFont typeface="Times Roman"/>
              <a:buChar char="•"/>
              <a:defRPr sz="2100">
                <a:latin typeface="Times Roman"/>
                <a:ea typeface="Times Roman"/>
                <a:cs typeface="Times Roman"/>
                <a:sym typeface="Times Roman"/>
              </a:defRPr>
            </a:pPr>
            <a:r>
              <a:t>Keep explanation simple and easy to understand</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Focus on Key Features</a:t>
            </a:r>
          </a:p>
          <a:p>
            <a:pPr marL="457200" indent="-317500" defTabSz="457200">
              <a:buSzPct val="100000"/>
              <a:buFont typeface="Times Roman"/>
              <a:buChar char="•"/>
              <a:defRPr sz="2100">
                <a:latin typeface="Times Roman"/>
                <a:ea typeface="Times Roman"/>
                <a:cs typeface="Times Roman"/>
                <a:sym typeface="Times Roman"/>
              </a:defRPr>
            </a:pPr>
            <a:r>
              <a:t>Highlight YOLOv8 detection and DeepSORT tracking</a:t>
            </a:r>
          </a:p>
          <a:p>
            <a:pPr marL="457200" indent="-317500" defTabSz="457200">
              <a:buSzPct val="100000"/>
              <a:buFont typeface="Times Roman"/>
              <a:buChar char="•"/>
              <a:defRPr sz="2100">
                <a:latin typeface="Times Roman"/>
                <a:ea typeface="Times Roman"/>
                <a:cs typeface="Times Roman"/>
                <a:sym typeface="Times Roman"/>
              </a:defRPr>
            </a:pPr>
            <a:r>
              <a:t>Emphasize real-time alert generation</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 Relevance to Project Goals</a:t>
            </a:r>
          </a:p>
          <a:p>
            <a:pPr marL="457200" indent="-317500" defTabSz="457200">
              <a:buSzPct val="100000"/>
              <a:buFont typeface="Times Roman"/>
              <a:buChar char="•"/>
              <a:defRPr sz="2100">
                <a:latin typeface="Times Roman"/>
                <a:ea typeface="Times Roman"/>
                <a:cs typeface="Times Roman"/>
                <a:sym typeface="Times Roman"/>
              </a:defRPr>
            </a:pPr>
            <a:r>
              <a:t>Shows improvement in public safety</a:t>
            </a:r>
          </a:p>
          <a:p>
            <a:pPr marL="457200" indent="-317500" defTabSz="457200">
              <a:buSzPct val="100000"/>
              <a:buFont typeface="Times Roman"/>
              <a:buChar char="•"/>
              <a:defRPr sz="2100">
                <a:latin typeface="Times Roman"/>
                <a:ea typeface="Times Roman"/>
                <a:cs typeface="Times Roman"/>
                <a:sym typeface="Times Roman"/>
              </a:defRPr>
            </a:pPr>
            <a:r>
              <a:t>Reduces dependency on manual CCTV monitoring</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 Technical Details</a:t>
            </a:r>
          </a:p>
          <a:p>
            <a:pPr marL="457200" indent="-317500" defTabSz="457200">
              <a:buSzPct val="100000"/>
              <a:buFont typeface="Times Roman"/>
              <a:buChar char="•"/>
              <a:defRPr sz="2100">
                <a:latin typeface="Times Roman"/>
                <a:ea typeface="Times Roman"/>
                <a:cs typeface="Times Roman"/>
                <a:sym typeface="Times Roman"/>
              </a:defRPr>
            </a:pPr>
            <a:r>
              <a:t>Briefly explain pipeline (CNN + LSTM + Audio)</a:t>
            </a:r>
          </a:p>
          <a:p>
            <a:pPr marL="457200" indent="-317500" defTabSz="457200">
              <a:buSzPct val="100000"/>
              <a:buFont typeface="Times Roman"/>
              <a:buChar char="•"/>
              <a:defRPr sz="2100">
                <a:latin typeface="Times Roman"/>
                <a:ea typeface="Times Roman"/>
                <a:cs typeface="Times Roman"/>
                <a:sym typeface="Times Roman"/>
              </a:defRPr>
            </a:pPr>
            <a:r>
              <a:t>Mention key performance metrics (Accuracy, FPS)</a:t>
            </a:r>
          </a:p>
          <a:p>
            <a:pPr defTabSz="457200">
              <a:defRPr sz="2100">
                <a:solidFill>
                  <a:srgbClr val="808080"/>
                </a:solidFill>
                <a:latin typeface="Times Roman"/>
                <a:ea typeface="Times Roman"/>
                <a:cs typeface="Times Roman"/>
                <a:sym typeface="Times Roman"/>
              </a:defRPr>
            </a:pPr>
          </a:p>
          <a:p>
            <a:pPr defTabSz="457200">
              <a:spcBef>
                <a:spcPts val="1400"/>
              </a:spcBef>
              <a:defRPr b="1" sz="2100">
                <a:latin typeface="Times Roman"/>
                <a:ea typeface="Times Roman"/>
                <a:cs typeface="Times Roman"/>
                <a:sym typeface="Times Roman"/>
              </a:defRPr>
            </a:pPr>
            <a:r>
              <a:t> Addressing Potential Questions</a:t>
            </a:r>
          </a:p>
          <a:p>
            <a:pPr marL="457200" indent="-317500" defTabSz="457200">
              <a:buSzPct val="100000"/>
              <a:buFont typeface="Times Roman"/>
              <a:buChar char="•"/>
              <a:defRPr sz="2100">
                <a:latin typeface="Times Roman"/>
                <a:ea typeface="Times Roman"/>
                <a:cs typeface="Times Roman"/>
                <a:sym typeface="Times Roman"/>
              </a:defRPr>
            </a:pPr>
            <a:r>
              <a:t>Prepare answers for model selection (YOLOv8, LSTM)</a:t>
            </a:r>
          </a:p>
          <a:p>
            <a:pPr marL="457200" indent="-317500" defTabSz="457200">
              <a:buSzPct val="100000"/>
              <a:buFont typeface="Times Roman"/>
              <a:buChar char="•"/>
              <a:defRPr sz="2100">
                <a:latin typeface="Times Roman"/>
                <a:ea typeface="Times Roman"/>
                <a:cs typeface="Times Roman"/>
                <a:sym typeface="Times Roman"/>
              </a:defRPr>
            </a:pPr>
            <a:r>
              <a:t>Be ready to explain limitations (crowd, noise)</a:t>
            </a: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spcBef>
                <a:spcPts val="1200"/>
              </a:spcBef>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a:p>
            <a:pPr defTabSz="457200">
              <a:defRPr sz="2100">
                <a:latin typeface="Times Roman"/>
                <a:ea typeface="Times Roman"/>
                <a:cs typeface="Times Roman"/>
                <a:sym typeface="Times Roman"/>
              </a:defRPr>
            </a:pPr>
          </a:p>
        </p:txBody>
      </p:sp>
      <p:sp>
        <p:nvSpPr>
          <p:cNvPr id="259"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Google Shape;775;p33"/>
          <p:cNvSpPr/>
          <p:nvPr/>
        </p:nvSpPr>
        <p:spPr>
          <a:xfrm>
            <a:off x="-2124075" y="-234632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62" name="Google Shape;778;p33"/>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63" name="Google Shape;780;p33"/>
          <p:cNvSpPr txBox="1"/>
          <p:nvPr/>
        </p:nvSpPr>
        <p:spPr>
          <a:xfrm>
            <a:off x="5416550" y="1885950"/>
            <a:ext cx="7455000" cy="774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9215"/>
              </a:lnSpc>
              <a:defRPr b="1" sz="5100">
                <a:solidFill>
                  <a:srgbClr val="FDFDFD"/>
                </a:solidFill>
                <a:latin typeface="Open Sans ExtraBold"/>
                <a:ea typeface="Open Sans ExtraBold"/>
                <a:cs typeface="Open Sans ExtraBold"/>
                <a:sym typeface="Open Sans ExtraBold"/>
              </a:defRPr>
            </a:lvl1pPr>
          </a:lstStyle>
          <a:p>
            <a:pPr/>
            <a:r>
              <a:t>Concept In Business</a:t>
            </a:r>
          </a:p>
        </p:txBody>
      </p:sp>
      <p:sp>
        <p:nvSpPr>
          <p:cNvPr id="264" name="Google Shape;781;p33"/>
          <p:cNvSpPr txBox="1"/>
          <p:nvPr/>
        </p:nvSpPr>
        <p:spPr>
          <a:xfrm>
            <a:off x="968374" y="1162050"/>
            <a:ext cx="14043002" cy="678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304800">
              <a:buClr>
                <a:srgbClr val="000000"/>
              </a:buClr>
              <a:buSzPts val="4800"/>
              <a:buFont typeface="Arial"/>
              <a:buChar char="•"/>
              <a:defRPr b="1" sz="4800"/>
            </a:lvl1pPr>
          </a:lstStyle>
          <a:p>
            <a:pPr/>
            <a:r>
              <a:t>Sustainable Development Goals(SDG)</a:t>
            </a:r>
          </a:p>
        </p:txBody>
      </p:sp>
      <p:sp>
        <p:nvSpPr>
          <p:cNvPr id="265" name="Google Shape;782;p33"/>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66" name="Google Shape;783;p33"/>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7" name="Google Shape;785;p33"/>
          <p:cNvSpPr txBox="1"/>
          <p:nvPr/>
        </p:nvSpPr>
        <p:spPr>
          <a:xfrm>
            <a:off x="1018861" y="1885950"/>
            <a:ext cx="16313752" cy="651918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500">
                <a:latin typeface="Times Roman"/>
                <a:ea typeface="Times Roman"/>
                <a:cs typeface="Times Roman"/>
                <a:sym typeface="Times Roman"/>
              </a:defRPr>
            </a:pPr>
            <a:r>
              <a:t>Alignment with SDGs</a:t>
            </a:r>
          </a:p>
          <a:p>
            <a:pPr marL="457200" indent="-317500" defTabSz="457200">
              <a:buSzPct val="100000"/>
              <a:buFont typeface="Times Roman"/>
              <a:buChar char="•"/>
              <a:defRPr b="1" sz="2500">
                <a:latin typeface="Times Roman"/>
                <a:ea typeface="Times Roman"/>
                <a:cs typeface="Times Roman"/>
                <a:sym typeface="Times Roman"/>
              </a:defRPr>
            </a:pPr>
            <a:r>
              <a:rPr b="0"/>
              <a:t>Supports </a:t>
            </a:r>
            <a:r>
              <a:t>SDG 11: Sustainable Cities and Communities</a:t>
            </a:r>
            <a:endParaRPr b="0"/>
          </a:p>
          <a:p>
            <a:pPr marL="457200" indent="-317500" defTabSz="457200">
              <a:buSzPct val="100000"/>
              <a:buFont typeface="Times Roman"/>
              <a:buChar char="•"/>
              <a:defRPr sz="2500">
                <a:latin typeface="Times Roman"/>
                <a:ea typeface="Times Roman"/>
                <a:cs typeface="Times Roman"/>
                <a:sym typeface="Times Roman"/>
              </a:defRPr>
            </a:pPr>
            <a:r>
              <a:t>Enhances safety through smart surveillance systems</a:t>
            </a:r>
          </a:p>
          <a:p>
            <a:pPr defTabSz="457200">
              <a:defRPr sz="2500">
                <a:solidFill>
                  <a:srgbClr val="808080"/>
                </a:solidFill>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 Relevance to Specific SDG</a:t>
            </a:r>
          </a:p>
          <a:p>
            <a:pPr marL="457200" indent="-317500" defTabSz="457200">
              <a:buSzPct val="100000"/>
              <a:buFont typeface="Times Roman"/>
              <a:buChar char="•"/>
              <a:defRPr sz="2500">
                <a:latin typeface="Times Roman"/>
                <a:ea typeface="Times Roman"/>
                <a:cs typeface="Times Roman"/>
                <a:sym typeface="Times Roman"/>
              </a:defRPr>
            </a:pPr>
            <a:r>
              <a:t>Addresses urban safety challenges in crowded areas</a:t>
            </a:r>
          </a:p>
          <a:p>
            <a:pPr marL="457200" indent="-317500" defTabSz="457200">
              <a:buSzPct val="100000"/>
              <a:buFont typeface="Times Roman"/>
              <a:buChar char="•"/>
              <a:defRPr sz="2500">
                <a:latin typeface="Times Roman"/>
                <a:ea typeface="Times Roman"/>
                <a:cs typeface="Times Roman"/>
                <a:sym typeface="Times Roman"/>
              </a:defRPr>
            </a:pPr>
            <a:r>
              <a:t>Enables real-time monitoring for public protection</a:t>
            </a:r>
          </a:p>
          <a:p>
            <a:pPr defTabSz="457200">
              <a:defRPr sz="2500">
                <a:solidFill>
                  <a:srgbClr val="808080"/>
                </a:solidFill>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 Social and Environmental Impact</a:t>
            </a:r>
          </a:p>
          <a:p>
            <a:pPr marL="457200" indent="-317500" defTabSz="457200">
              <a:buSzPct val="100000"/>
              <a:buFont typeface="Times Roman"/>
              <a:buChar char="•"/>
              <a:defRPr sz="2500">
                <a:latin typeface="Times Roman"/>
                <a:ea typeface="Times Roman"/>
                <a:cs typeface="Times Roman"/>
                <a:sym typeface="Times Roman"/>
              </a:defRPr>
            </a:pPr>
            <a:r>
              <a:t>Reduces crime and improves public security</a:t>
            </a:r>
          </a:p>
          <a:p>
            <a:pPr marL="457200" indent="-317500" defTabSz="457200">
              <a:buSzPct val="100000"/>
              <a:buFont typeface="Times Roman"/>
              <a:buChar char="•"/>
              <a:defRPr sz="2500">
                <a:latin typeface="Times Roman"/>
                <a:ea typeface="Times Roman"/>
                <a:cs typeface="Times Roman"/>
                <a:sym typeface="Times Roman"/>
              </a:defRPr>
            </a:pPr>
            <a:r>
              <a:t>Promotes safer and more organized public spaces</a:t>
            </a:r>
          </a:p>
          <a:p>
            <a:pPr defTabSz="457200">
              <a:defRPr sz="2500">
                <a:solidFill>
                  <a:srgbClr val="808080"/>
                </a:solidFill>
                <a:latin typeface="Times Roman"/>
                <a:ea typeface="Times Roman"/>
                <a:cs typeface="Times Roman"/>
                <a:sym typeface="Times Roman"/>
              </a:defRPr>
            </a:pPr>
          </a:p>
          <a:p>
            <a:pPr defTabSz="457200">
              <a:spcBef>
                <a:spcPts val="1400"/>
              </a:spcBef>
              <a:defRPr b="1" sz="2500">
                <a:latin typeface="Times Roman"/>
                <a:ea typeface="Times Roman"/>
                <a:cs typeface="Times Roman"/>
                <a:sym typeface="Times Roman"/>
              </a:defRPr>
            </a:pPr>
            <a:r>
              <a:t> Economic Feasibility (Costs)</a:t>
            </a:r>
          </a:p>
          <a:p>
            <a:pPr marL="457200" indent="-317500" defTabSz="457200">
              <a:buSzPct val="100000"/>
              <a:buFont typeface="Times Roman"/>
              <a:buChar char="•"/>
              <a:defRPr sz="2500">
                <a:latin typeface="Times Roman"/>
                <a:ea typeface="Times Roman"/>
                <a:cs typeface="Times Roman"/>
                <a:sym typeface="Times Roman"/>
              </a:defRPr>
            </a:pPr>
            <a:r>
              <a:t>Uses existing CCTV infrastructure (cost-effective)</a:t>
            </a:r>
          </a:p>
          <a:p>
            <a:pPr marL="457200" indent="-317500" defTabSz="457200">
              <a:buSzPct val="100000"/>
              <a:buFont typeface="Times Roman"/>
              <a:buChar char="•"/>
              <a:defRPr sz="2500">
                <a:latin typeface="Times Roman"/>
                <a:ea typeface="Times Roman"/>
                <a:cs typeface="Times Roman"/>
                <a:sym typeface="Times Roman"/>
              </a:defRPr>
            </a:pPr>
            <a:r>
              <a:t>Scalable system with optimized resource usage</a:t>
            </a:r>
          </a:p>
        </p:txBody>
      </p:sp>
      <p:sp>
        <p:nvSpPr>
          <p:cNvPr id="268"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Google Shape;823;p36"/>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71" name="Google Shape;825;p36"/>
          <p:cNvSpPr txBox="1"/>
          <p:nvPr/>
        </p:nvSpPr>
        <p:spPr>
          <a:xfrm>
            <a:off x="1028700" y="1247775"/>
            <a:ext cx="11087100"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lvl1pPr>
          </a:lstStyle>
          <a:p>
            <a:pPr/>
            <a:r>
              <a:t>Challenges Encountered &amp; Solutions</a:t>
            </a:r>
          </a:p>
        </p:txBody>
      </p:sp>
      <p:sp>
        <p:nvSpPr>
          <p:cNvPr id="272" name="Google Shape;826;p36"/>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73" name="Google Shape;827;p36"/>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4" name="Google Shape;829;p36"/>
          <p:cNvSpPr txBox="1"/>
          <p:nvPr/>
        </p:nvSpPr>
        <p:spPr>
          <a:xfrm>
            <a:off x="1074424" y="2400299"/>
            <a:ext cx="15948652" cy="592254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2900">
                <a:latin typeface="Times Roman"/>
                <a:ea typeface="Times Roman"/>
                <a:cs typeface="Times Roman"/>
                <a:sym typeface="Times Roman"/>
              </a:defRPr>
            </a:pPr>
            <a:r>
              <a:t>Challenges</a:t>
            </a:r>
          </a:p>
          <a:p>
            <a:pPr marL="457200" indent="-317500" defTabSz="457200">
              <a:buSzPct val="100000"/>
              <a:buFont typeface="Times Roman"/>
              <a:buChar char="•"/>
              <a:defRPr sz="2900">
                <a:latin typeface="Times Roman"/>
                <a:ea typeface="Times Roman"/>
                <a:cs typeface="Times Roman"/>
                <a:sym typeface="Times Roman"/>
              </a:defRPr>
            </a:pPr>
            <a:r>
              <a:t>Occlusion and dense crowds affecting detection &amp; tracking accuracy</a:t>
            </a:r>
          </a:p>
          <a:p>
            <a:pPr marL="457200" indent="-317500" defTabSz="457200">
              <a:buSzPct val="100000"/>
              <a:buFont typeface="Times Roman"/>
              <a:buChar char="•"/>
              <a:defRPr sz="2900">
                <a:latin typeface="Times Roman"/>
                <a:ea typeface="Times Roman"/>
                <a:cs typeface="Times Roman"/>
                <a:sym typeface="Times Roman"/>
              </a:defRPr>
            </a:pPr>
            <a:r>
              <a:t>Audio noise and false positives in anomaly detection</a:t>
            </a:r>
          </a:p>
          <a:p>
            <a:pPr defTabSz="457200">
              <a:defRPr sz="2900">
                <a:solidFill>
                  <a:srgbClr val="808080"/>
                </a:solidFill>
                <a:latin typeface="Times Roman"/>
                <a:ea typeface="Times Roman"/>
                <a:cs typeface="Times Roman"/>
                <a:sym typeface="Times Roman"/>
              </a:defRPr>
            </a:pPr>
          </a:p>
          <a:p>
            <a:pPr defTabSz="457200">
              <a:spcBef>
                <a:spcPts val="1400"/>
              </a:spcBef>
              <a:defRPr b="1" sz="2900">
                <a:latin typeface="Times Roman"/>
                <a:ea typeface="Times Roman"/>
                <a:cs typeface="Times Roman"/>
                <a:sym typeface="Times Roman"/>
              </a:defRPr>
            </a:pPr>
            <a:r>
              <a:t> Solutions</a:t>
            </a:r>
          </a:p>
          <a:p>
            <a:pPr marL="457200" indent="-317500" defTabSz="457200">
              <a:buSzPct val="100000"/>
              <a:buFont typeface="Times Roman"/>
              <a:buChar char="•"/>
              <a:defRPr sz="2900">
                <a:latin typeface="Times Roman"/>
                <a:ea typeface="Times Roman"/>
                <a:cs typeface="Times Roman"/>
                <a:sym typeface="Times Roman"/>
              </a:defRPr>
            </a:pPr>
            <a:r>
              <a:t>Used DeepSORT for better tracking and identity management</a:t>
            </a:r>
          </a:p>
          <a:p>
            <a:pPr marL="457200" indent="-317500" defTabSz="457200">
              <a:buSzPct val="100000"/>
              <a:buFont typeface="Times Roman"/>
              <a:buChar char="•"/>
              <a:defRPr sz="2900">
                <a:latin typeface="Times Roman"/>
                <a:ea typeface="Times Roman"/>
                <a:cs typeface="Times Roman"/>
                <a:sym typeface="Times Roman"/>
              </a:defRPr>
            </a:pPr>
            <a:r>
              <a:t>Applied threshold tuning and multimodal (audio + video) validation</a:t>
            </a:r>
          </a:p>
          <a:p>
            <a:pPr defTabSz="457200">
              <a:defRPr sz="2900">
                <a:solidFill>
                  <a:srgbClr val="808080"/>
                </a:solidFill>
                <a:latin typeface="Times Roman"/>
                <a:ea typeface="Times Roman"/>
                <a:cs typeface="Times Roman"/>
                <a:sym typeface="Times Roman"/>
              </a:defRPr>
            </a:pPr>
          </a:p>
          <a:p>
            <a:pPr defTabSz="457200">
              <a:spcBef>
                <a:spcPts val="1400"/>
              </a:spcBef>
              <a:defRPr b="1" sz="2900">
                <a:latin typeface="Times Roman"/>
                <a:ea typeface="Times Roman"/>
                <a:cs typeface="Times Roman"/>
                <a:sym typeface="Times Roman"/>
              </a:defRPr>
            </a:pPr>
            <a:r>
              <a:t> Lessons Learned</a:t>
            </a:r>
          </a:p>
          <a:p>
            <a:pPr marL="457200" indent="-317500" defTabSz="457200">
              <a:buSzPct val="100000"/>
              <a:buFont typeface="Times Roman"/>
              <a:buChar char="•"/>
              <a:defRPr sz="2900">
                <a:latin typeface="Times Roman"/>
                <a:ea typeface="Times Roman"/>
                <a:cs typeface="Times Roman"/>
                <a:sym typeface="Times Roman"/>
              </a:defRPr>
            </a:pPr>
            <a:r>
              <a:t>Combining multiple data sources improves system reliability</a:t>
            </a:r>
          </a:p>
          <a:p>
            <a:pPr marL="457200" indent="-317500" defTabSz="457200">
              <a:buSzPct val="100000"/>
              <a:buFont typeface="Times Roman"/>
              <a:buChar char="•"/>
              <a:defRPr sz="2900">
                <a:latin typeface="Times Roman"/>
                <a:ea typeface="Times Roman"/>
                <a:cs typeface="Times Roman"/>
                <a:sym typeface="Times Roman"/>
              </a:defRPr>
            </a:pPr>
            <a:r>
              <a:t>Real-world conditions require optimization beyond theoretical models</a:t>
            </a:r>
          </a:p>
        </p:txBody>
      </p:sp>
      <p:sp>
        <p:nvSpPr>
          <p:cNvPr id="275"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Google Shape;835;p37"/>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78" name="Google Shape;837;p37"/>
          <p:cNvSpPr txBox="1"/>
          <p:nvPr/>
        </p:nvSpPr>
        <p:spPr>
          <a:xfrm>
            <a:off x="1789112" y="1247775"/>
            <a:ext cx="13374601"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Advantages</a:t>
            </a:r>
          </a:p>
        </p:txBody>
      </p:sp>
      <p:sp>
        <p:nvSpPr>
          <p:cNvPr id="279" name="Google Shape;838;p37"/>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80" name="Google Shape;839;p37"/>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1" name="Google Shape;841;p37"/>
          <p:cNvSpPr txBox="1"/>
          <p:nvPr/>
        </p:nvSpPr>
        <p:spPr>
          <a:xfrm>
            <a:off x="1493524" y="2324100"/>
            <a:ext cx="16062952" cy="567714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457200" indent="-317500" defTabSz="457200">
              <a:buSzPct val="100000"/>
              <a:buFont typeface="Times Roman"/>
              <a:buChar char="•"/>
              <a:defRPr sz="3600">
                <a:latin typeface="Times Roman"/>
                <a:ea typeface="Times Roman"/>
                <a:cs typeface="Times Roman"/>
                <a:sym typeface="Times Roman"/>
              </a:defRPr>
            </a:pPr>
            <a:r>
              <a:t>Real-time detection of theft, violence, and anomalies</a:t>
            </a:r>
          </a:p>
          <a:p>
            <a:pPr marL="457200" indent="-317500" defTabSz="457200">
              <a:buSzPct val="100000"/>
              <a:buFont typeface="Times Roman"/>
              <a:buChar char="•"/>
              <a:defRPr sz="3600">
                <a:latin typeface="Times Roman"/>
                <a:ea typeface="Times Roman"/>
                <a:cs typeface="Times Roman"/>
                <a:sym typeface="Times Roman"/>
              </a:defRPr>
            </a:pPr>
            <a:r>
              <a:t>Multimodal system (audio + video) improves accuracy</a:t>
            </a:r>
          </a:p>
          <a:p>
            <a:pPr marL="457200" indent="-317500" defTabSz="457200">
              <a:buSzPct val="100000"/>
              <a:buFont typeface="Times Roman"/>
              <a:buChar char="•"/>
              <a:defRPr sz="3600">
                <a:latin typeface="Times Roman"/>
                <a:ea typeface="Times Roman"/>
                <a:cs typeface="Times Roman"/>
                <a:sym typeface="Times Roman"/>
              </a:defRPr>
            </a:pPr>
            <a:r>
              <a:t>High performance with reliable detection metrics</a:t>
            </a:r>
          </a:p>
          <a:p>
            <a:pPr marL="457200" indent="-317500" defTabSz="457200">
              <a:buSzPct val="100000"/>
              <a:buFont typeface="Times Roman"/>
              <a:buChar char="•"/>
              <a:defRPr sz="3600">
                <a:latin typeface="Times Roman"/>
                <a:ea typeface="Times Roman"/>
                <a:cs typeface="Times Roman"/>
                <a:sym typeface="Times Roman"/>
              </a:defRPr>
            </a:pPr>
            <a:r>
              <a:t>Works effectively in crowded environments</a:t>
            </a:r>
          </a:p>
          <a:p>
            <a:pPr marL="457200" indent="-317500" defTabSz="457200">
              <a:buSzPct val="100000"/>
              <a:buFont typeface="Times Roman"/>
              <a:buChar char="•"/>
              <a:defRPr sz="3600">
                <a:latin typeface="Times Roman"/>
                <a:ea typeface="Times Roman"/>
                <a:cs typeface="Times Roman"/>
                <a:sym typeface="Times Roman"/>
              </a:defRPr>
            </a:pPr>
            <a:r>
              <a:t>Reduces dependency on manual CCTV monitoring</a:t>
            </a:r>
          </a:p>
          <a:p>
            <a:pPr marL="457200" indent="-317500" defTabSz="457200">
              <a:buSzPct val="100000"/>
              <a:buFont typeface="Times Roman"/>
              <a:buChar char="•"/>
              <a:defRPr sz="3600">
                <a:latin typeface="Times Roman"/>
                <a:ea typeface="Times Roman"/>
                <a:cs typeface="Times Roman"/>
                <a:sym typeface="Times Roman"/>
              </a:defRPr>
            </a:pPr>
            <a:r>
              <a:t>Scalable for smart city and large surveillance systems</a:t>
            </a:r>
          </a:p>
          <a:p>
            <a:pPr marL="457200" indent="-317500" defTabSz="457200">
              <a:buSzPct val="100000"/>
              <a:buFont typeface="Times Roman"/>
              <a:buChar char="•"/>
              <a:defRPr sz="3600">
                <a:latin typeface="Times Roman"/>
                <a:ea typeface="Times Roman"/>
                <a:cs typeface="Times Roman"/>
                <a:sym typeface="Times Roman"/>
              </a:defRPr>
            </a:pPr>
            <a:r>
              <a:t>Provides instant alerts for quick response</a:t>
            </a:r>
          </a:p>
          <a:p>
            <a:pPr defTabSz="457200">
              <a:defRPr sz="3600">
                <a:solidFill>
                  <a:srgbClr val="808080"/>
                </a:solidFill>
                <a:latin typeface="Times Roman"/>
                <a:ea typeface="Times Roman"/>
                <a:cs typeface="Times Roman"/>
                <a:sym typeface="Times Roman"/>
              </a:defRPr>
            </a:pPr>
          </a:p>
          <a:p>
            <a:pPr defTabSz="457200">
              <a:spcBef>
                <a:spcPts val="1200"/>
              </a:spcBef>
              <a:defRPr sz="3600">
                <a:latin typeface="Times Roman"/>
                <a:ea typeface="Times Roman"/>
                <a:cs typeface="Times Roman"/>
                <a:sym typeface="Times Roman"/>
              </a:defRPr>
            </a:pPr>
          </a:p>
        </p:txBody>
      </p:sp>
      <p:sp>
        <p:nvSpPr>
          <p:cNvPr id="282"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Google Shape;847;p38"/>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85" name="Google Shape;849;p38"/>
          <p:cNvSpPr txBox="1"/>
          <p:nvPr/>
        </p:nvSpPr>
        <p:spPr>
          <a:xfrm>
            <a:off x="1789111" y="1247775"/>
            <a:ext cx="11698201"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lvl1pPr>
          </a:lstStyle>
          <a:p>
            <a:pPr/>
            <a:r>
              <a:t>Limitations &amp; Future Scope</a:t>
            </a:r>
          </a:p>
        </p:txBody>
      </p:sp>
      <p:sp>
        <p:nvSpPr>
          <p:cNvPr id="286" name="Google Shape;850;p38"/>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87" name="Google Shape;851;p38"/>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8" name="Google Shape;853;p38"/>
          <p:cNvSpPr txBox="1"/>
          <p:nvPr/>
        </p:nvSpPr>
        <p:spPr>
          <a:xfrm>
            <a:off x="1493524" y="2324100"/>
            <a:ext cx="16062952" cy="621422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400"/>
              </a:spcBef>
              <a:defRPr b="1" sz="3000">
                <a:latin typeface="Times Roman"/>
                <a:ea typeface="Times Roman"/>
                <a:cs typeface="Times Roman"/>
                <a:sym typeface="Times Roman"/>
              </a:defRPr>
            </a:pPr>
            <a:r>
              <a:t>Planned Enhancements</a:t>
            </a:r>
          </a:p>
          <a:p>
            <a:pPr marL="457200" indent="-317500" defTabSz="457200">
              <a:buSzPct val="100000"/>
              <a:buFont typeface="Times Roman"/>
              <a:buChar char="•"/>
              <a:defRPr sz="3000">
                <a:latin typeface="Times Roman"/>
                <a:ea typeface="Times Roman"/>
                <a:cs typeface="Times Roman"/>
                <a:sym typeface="Times Roman"/>
              </a:defRPr>
            </a:pPr>
            <a:r>
              <a:t>Integration with smart city systems and real-time monitoring platforms</a:t>
            </a:r>
          </a:p>
          <a:p>
            <a:pPr marL="457200" indent="-317500" defTabSz="457200">
              <a:buSzPct val="100000"/>
              <a:buFont typeface="Times Roman"/>
              <a:buChar char="•"/>
              <a:defRPr sz="3000">
                <a:latin typeface="Times Roman"/>
                <a:ea typeface="Times Roman"/>
                <a:cs typeface="Times Roman"/>
                <a:sym typeface="Times Roman"/>
              </a:defRPr>
            </a:pPr>
            <a:r>
              <a:t>Improved accuracy using advanced models (Transformers, improved audio AI)</a:t>
            </a:r>
          </a:p>
          <a:p>
            <a:pPr defTabSz="457200">
              <a:defRPr sz="3000">
                <a:solidFill>
                  <a:srgbClr val="808080"/>
                </a:solidFill>
                <a:latin typeface="Times Roman"/>
                <a:ea typeface="Times Roman"/>
                <a:cs typeface="Times Roman"/>
                <a:sym typeface="Times Roman"/>
              </a:defRPr>
            </a:pPr>
          </a:p>
          <a:p>
            <a:pPr defTabSz="457200">
              <a:spcBef>
                <a:spcPts val="1400"/>
              </a:spcBef>
              <a:defRPr b="1" sz="3000">
                <a:latin typeface="Times Roman"/>
                <a:ea typeface="Times Roman"/>
                <a:cs typeface="Times Roman"/>
                <a:sym typeface="Times Roman"/>
              </a:defRPr>
            </a:pPr>
            <a:r>
              <a:t>Potential Research Directions</a:t>
            </a:r>
          </a:p>
          <a:p>
            <a:pPr marL="457200" indent="-317500" defTabSz="457200">
              <a:buSzPct val="100000"/>
              <a:buFont typeface="Times Roman"/>
              <a:buChar char="•"/>
              <a:defRPr sz="3000">
                <a:latin typeface="Times Roman"/>
                <a:ea typeface="Times Roman"/>
                <a:cs typeface="Times Roman"/>
                <a:sym typeface="Times Roman"/>
              </a:defRPr>
            </a:pPr>
            <a:r>
              <a:t>Multimodal learning with deeper audio-visual fusion techniques</a:t>
            </a:r>
          </a:p>
          <a:p>
            <a:pPr marL="457200" indent="-317500" defTabSz="457200">
              <a:buSzPct val="100000"/>
              <a:buFont typeface="Times Roman"/>
              <a:buChar char="•"/>
              <a:defRPr sz="3000">
                <a:latin typeface="Times Roman"/>
                <a:ea typeface="Times Roman"/>
                <a:cs typeface="Times Roman"/>
                <a:sym typeface="Times Roman"/>
              </a:defRPr>
            </a:pPr>
            <a:r>
              <a:t>Development of large real-world datasets for theft detection</a:t>
            </a:r>
          </a:p>
          <a:p>
            <a:pPr defTabSz="457200">
              <a:defRPr sz="3000">
                <a:solidFill>
                  <a:srgbClr val="808080"/>
                </a:solidFill>
                <a:latin typeface="Times Roman"/>
                <a:ea typeface="Times Roman"/>
                <a:cs typeface="Times Roman"/>
                <a:sym typeface="Times Roman"/>
              </a:defRPr>
            </a:pPr>
          </a:p>
          <a:p>
            <a:pPr defTabSz="457200">
              <a:spcBef>
                <a:spcPts val="1400"/>
              </a:spcBef>
              <a:defRPr b="1" sz="3000">
                <a:latin typeface="Times Roman"/>
                <a:ea typeface="Times Roman"/>
                <a:cs typeface="Times Roman"/>
                <a:sym typeface="Times Roman"/>
              </a:defRPr>
            </a:pPr>
            <a:r>
              <a:t>Known Issues / Shortcomings</a:t>
            </a:r>
          </a:p>
          <a:p>
            <a:pPr marL="457200" indent="-317500" defTabSz="457200">
              <a:buSzPct val="100000"/>
              <a:buFont typeface="Times Roman"/>
              <a:buChar char="•"/>
              <a:defRPr sz="3000">
                <a:latin typeface="Times Roman"/>
                <a:ea typeface="Times Roman"/>
                <a:cs typeface="Times Roman"/>
                <a:sym typeface="Times Roman"/>
              </a:defRPr>
            </a:pPr>
            <a:r>
              <a:t>Reduced accuracy in dense crowds and occlusion scenarios</a:t>
            </a:r>
          </a:p>
          <a:p>
            <a:pPr marL="457200" indent="-317500" defTabSz="457200">
              <a:buSzPct val="100000"/>
              <a:buFont typeface="Times Roman"/>
              <a:buChar char="•"/>
              <a:defRPr sz="3000">
                <a:latin typeface="Times Roman"/>
                <a:ea typeface="Times Roman"/>
                <a:cs typeface="Times Roman"/>
                <a:sym typeface="Times Roman"/>
              </a:defRPr>
            </a:pPr>
            <a:r>
              <a:t>Audio module prone to noise and false positives</a:t>
            </a:r>
          </a:p>
        </p:txBody>
      </p:sp>
      <p:sp>
        <p:nvSpPr>
          <p:cNvPr id="289"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17                DEPARTMENT OF ARTIFICIAL INTELLIGENCE AND DATA SCIENCE</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Google Shape;859;p39"/>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92" name="Google Shape;861;p39"/>
          <p:cNvSpPr txBox="1"/>
          <p:nvPr/>
        </p:nvSpPr>
        <p:spPr>
          <a:xfrm>
            <a:off x="1789111" y="1247775"/>
            <a:ext cx="11698201" cy="616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lvl1pPr>
          </a:lstStyle>
          <a:p>
            <a:pPr/>
            <a:r>
              <a:t>Conclusion</a:t>
            </a:r>
          </a:p>
        </p:txBody>
      </p:sp>
      <p:sp>
        <p:nvSpPr>
          <p:cNvPr id="293" name="Google Shape;862;p39"/>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294" name="Google Shape;863;p39"/>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95" name="Google Shape;865;p39"/>
          <p:cNvSpPr txBox="1"/>
          <p:nvPr/>
        </p:nvSpPr>
        <p:spPr>
          <a:xfrm>
            <a:off x="1493524" y="2324100"/>
            <a:ext cx="16062952" cy="603353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just" defTabSz="457200">
              <a:spcBef>
                <a:spcPts val="1400"/>
              </a:spcBef>
              <a:defRPr b="1" sz="3600">
                <a:latin typeface="Times Roman"/>
                <a:ea typeface="Times Roman"/>
                <a:cs typeface="Times Roman"/>
                <a:sym typeface="Times Roman"/>
              </a:defRPr>
            </a:pPr>
            <a:r>
              <a:t>Summary of what was achieved</a:t>
            </a:r>
          </a:p>
          <a:p>
            <a:pPr marL="457200" indent="-317500" algn="just" defTabSz="457200">
              <a:buSzPct val="100000"/>
              <a:buFont typeface="Times Roman"/>
              <a:buChar char="•"/>
              <a:defRPr sz="3600">
                <a:latin typeface="Times Roman"/>
                <a:ea typeface="Times Roman"/>
                <a:cs typeface="Times Roman"/>
                <a:sym typeface="Times Roman"/>
              </a:defRPr>
            </a:pPr>
            <a:r>
              <a:t>Developed SafeCrowd Vision for real-time suspicious activity detection</a:t>
            </a:r>
          </a:p>
          <a:p>
            <a:pPr marL="457200" indent="-317500" algn="just" defTabSz="457200">
              <a:buSzPct val="100000"/>
              <a:buFont typeface="Times Roman"/>
              <a:buChar char="•"/>
              <a:defRPr sz="3600">
                <a:latin typeface="Times Roman"/>
                <a:ea typeface="Times Roman"/>
                <a:cs typeface="Times Roman"/>
                <a:sym typeface="Times Roman"/>
              </a:defRPr>
            </a:pPr>
            <a:r>
              <a:t>Successfully integrated CNN, LSTM, and audio analysis for accurate results</a:t>
            </a:r>
          </a:p>
          <a:p>
            <a:pPr algn="just" defTabSz="457200">
              <a:defRPr sz="3600">
                <a:solidFill>
                  <a:srgbClr val="808080"/>
                </a:solidFill>
                <a:latin typeface="Times Roman"/>
                <a:ea typeface="Times Roman"/>
                <a:cs typeface="Times Roman"/>
                <a:sym typeface="Times Roman"/>
              </a:defRPr>
            </a:pPr>
          </a:p>
          <a:p>
            <a:pPr algn="just" defTabSz="457200">
              <a:spcBef>
                <a:spcPts val="1400"/>
              </a:spcBef>
              <a:defRPr b="1" sz="3600">
                <a:latin typeface="Times Roman"/>
                <a:ea typeface="Times Roman"/>
                <a:cs typeface="Times Roman"/>
                <a:sym typeface="Times Roman"/>
              </a:defRPr>
            </a:pPr>
            <a:r>
              <a:t> Final Remarks</a:t>
            </a:r>
          </a:p>
          <a:p>
            <a:pPr marL="457200" indent="-317500" algn="just" defTabSz="457200">
              <a:buSzPct val="100000"/>
              <a:buFont typeface="Times Roman"/>
              <a:buChar char="•"/>
              <a:defRPr sz="3600">
                <a:latin typeface="Times Roman"/>
                <a:ea typeface="Times Roman"/>
                <a:cs typeface="Times Roman"/>
                <a:sym typeface="Times Roman"/>
              </a:defRPr>
            </a:pPr>
            <a:r>
              <a:t>System enhances public safety in crowded environments</a:t>
            </a:r>
          </a:p>
          <a:p>
            <a:pPr marL="457200" indent="-317500" algn="just" defTabSz="457200">
              <a:buSzPct val="100000"/>
              <a:buFont typeface="Times Roman"/>
              <a:buChar char="•"/>
              <a:defRPr sz="3600">
                <a:latin typeface="Times Roman"/>
                <a:ea typeface="Times Roman"/>
                <a:cs typeface="Times Roman"/>
                <a:sym typeface="Times Roman"/>
              </a:defRPr>
            </a:pPr>
            <a:r>
              <a:t>Demonstrates strong potential for real-world smart surveillance applications</a:t>
            </a:r>
          </a:p>
          <a:p>
            <a:pPr algn="just" defTabSz="457200">
              <a:defRPr sz="3600">
                <a:solidFill>
                  <a:srgbClr val="808080"/>
                </a:solidFill>
                <a:latin typeface="Times Roman"/>
                <a:ea typeface="Times Roman"/>
                <a:cs typeface="Times Roman"/>
                <a:sym typeface="Times Roman"/>
              </a:defRPr>
            </a:pPr>
          </a:p>
          <a:p>
            <a:pPr algn="just" defTabSz="457200">
              <a:spcBef>
                <a:spcPts val="1200"/>
              </a:spcBef>
              <a:defRPr sz="3600">
                <a:latin typeface="Times Roman"/>
                <a:ea typeface="Times Roman"/>
                <a:cs typeface="Times Roman"/>
                <a:sym typeface="Times Roman"/>
              </a:defRPr>
            </a:pPr>
          </a:p>
        </p:txBody>
      </p:sp>
      <p:sp>
        <p:nvSpPr>
          <p:cNvPr id="296"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Google Shape;871;p40"/>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299" name="Google Shape;873;p40"/>
          <p:cNvSpPr txBox="1"/>
          <p:nvPr/>
        </p:nvSpPr>
        <p:spPr>
          <a:xfrm>
            <a:off x="1789111" y="1247775"/>
            <a:ext cx="11698201" cy="1251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indent="-279400">
              <a:buClr>
                <a:srgbClr val="000000"/>
              </a:buClr>
              <a:buSzPts val="4400"/>
              <a:buFont typeface="Arial"/>
              <a:buChar char="•"/>
              <a:defRPr b="1" sz="4400"/>
            </a:lvl1pPr>
          </a:lstStyle>
          <a:p>
            <a:pPr/>
            <a:r>
              <a:t>YouTube Demonstration Video URL &amp; Git Hub Link</a:t>
            </a:r>
          </a:p>
        </p:txBody>
      </p:sp>
      <p:sp>
        <p:nvSpPr>
          <p:cNvPr id="300" name="Google Shape;874;p40"/>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01" name="Google Shape;875;p40"/>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02"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
        <p:nvSpPr>
          <p:cNvPr id="303" name="https://github.com/Mutharasi12/MAJOR-PROJECT/upload"/>
          <p:cNvSpPr txBox="1"/>
          <p:nvPr/>
        </p:nvSpPr>
        <p:spPr>
          <a:xfrm>
            <a:off x="2026081" y="3882006"/>
            <a:ext cx="8927789" cy="47392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700"/>
            </a:lvl1pPr>
          </a:lstStyle>
          <a:p>
            <a:pPr/>
            <a:r>
              <a:t>https://github.com/Mutharasi12/MAJOR-PROJECT/upload</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Google Shape;893;p42"/>
          <p:cNvSpPr/>
          <p:nvPr/>
        </p:nvSpPr>
        <p:spPr>
          <a:xfrm>
            <a:off x="15573375" y="7940675"/>
            <a:ext cx="4692621" cy="4692621"/>
          </a:xfrm>
          <a:prstGeom prst="ellipse">
            <a:avLst/>
          </a:prstGeom>
          <a:solidFill>
            <a:srgbClr val="000000">
              <a:alpha val="0"/>
            </a:srgbClr>
          </a:solidFill>
          <a:ln w="952500" cap="sq">
            <a:solidFill>
              <a:srgbClr val="FFFFFF">
                <a:alpha val="15690"/>
              </a:srgbClr>
            </a:solidFill>
            <a:miter lim="524288"/>
          </a:ln>
        </p:spPr>
        <p:txBody>
          <a:bodyPr lIns="45719" rIns="45719"/>
          <a:lstStyle/>
          <a:p>
            <a:pPr>
              <a:defRPr sz="1800">
                <a:latin typeface="Corbel"/>
                <a:ea typeface="Corbel"/>
                <a:cs typeface="Corbel"/>
                <a:sym typeface="Corbel"/>
              </a:defRPr>
            </a:pPr>
          </a:p>
        </p:txBody>
      </p:sp>
      <p:sp>
        <p:nvSpPr>
          <p:cNvPr id="306" name="Google Shape;895;p42"/>
          <p:cNvSpPr txBox="1"/>
          <p:nvPr/>
        </p:nvSpPr>
        <p:spPr>
          <a:xfrm>
            <a:off x="1752600" y="615949"/>
            <a:ext cx="13527001" cy="6167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400"/>
            </a:lvl1pPr>
          </a:lstStyle>
          <a:p>
            <a:pPr/>
            <a:r>
              <a:t>Publication Status(Mandatory)</a:t>
            </a:r>
          </a:p>
        </p:txBody>
      </p:sp>
      <p:sp>
        <p:nvSpPr>
          <p:cNvPr id="307" name="Google Shape;896;p42"/>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08" name="Google Shape;897;p42"/>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09" name="Google Shape;899;p42"/>
          <p:cNvSpPr txBox="1"/>
          <p:nvPr/>
        </p:nvSpPr>
        <p:spPr>
          <a:xfrm>
            <a:off x="1462867" y="1304654"/>
            <a:ext cx="16215351" cy="624259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b="1" sz="2000"/>
            </a:pPr>
            <a:r>
              <a:t>Conference Details:</a:t>
            </a:r>
          </a:p>
          <a:p>
            <a:pPr>
              <a:defRPr sz="2000"/>
            </a:pPr>
          </a:p>
          <a:p>
            <a:pPr>
              <a:defRPr b="1" sz="2000"/>
            </a:pPr>
            <a:r>
              <a:t>Conference Name:</a:t>
            </a:r>
            <a:r>
              <a:rPr b="0"/>
              <a:t> [Full Name of the IEEE International Conference]</a:t>
            </a:r>
            <a:endParaRPr b="0"/>
          </a:p>
          <a:p>
            <a:pPr>
              <a:defRPr b="1" sz="2000"/>
            </a:pPr>
            <a:r>
              <a:t>Conference Location:</a:t>
            </a:r>
            <a:r>
              <a:rPr b="0"/>
              <a:t> Pune,India</a:t>
            </a:r>
            <a:endParaRPr b="0"/>
          </a:p>
          <a:p>
            <a:pPr>
              <a:defRPr b="1" sz="2000"/>
            </a:pPr>
            <a:r>
              <a:t>Conference Dates:</a:t>
            </a:r>
            <a:r>
              <a:rPr b="0"/>
              <a:t>13.3.2026 to 15.3.2026</a:t>
            </a:r>
            <a:endParaRPr b="0"/>
          </a:p>
          <a:p>
            <a:pPr>
              <a:defRPr b="1" sz="2000"/>
            </a:pPr>
            <a:endParaRPr b="0"/>
          </a:p>
          <a:p>
            <a:pPr>
              <a:defRPr sz="2000"/>
            </a:pPr>
          </a:p>
          <a:p>
            <a:pPr>
              <a:defRPr b="1" sz="2000"/>
            </a:pPr>
            <a:r>
              <a:t>Publication Status:</a:t>
            </a:r>
            <a:r>
              <a:rPr b="0"/>
              <a:t>Presented		</a:t>
            </a:r>
            <a:endParaRPr b="0"/>
          </a:p>
          <a:p>
            <a:pPr>
              <a:defRPr sz="2000"/>
            </a:pPr>
          </a:p>
          <a:p>
            <a:pPr>
              <a:defRPr b="1" sz="2000"/>
            </a:pPr>
            <a:r>
              <a:t>Paper Title:</a:t>
            </a:r>
            <a:r>
              <a:rPr b="0"/>
              <a:t>Real Time Suspicious Activity Detection Using CNN And LSTM</a:t>
            </a:r>
            <a:endParaRPr b="0"/>
          </a:p>
          <a:p>
            <a:pPr>
              <a:defRPr b="1" sz="2000"/>
            </a:pPr>
            <a:r>
              <a:t>Authors: </a:t>
            </a:r>
            <a:r>
              <a:rPr b="0"/>
              <a:t>Mrs.K.Priya,Dr.N.Krishnammal,Mutharasi.A,Anitha.D</a:t>
            </a:r>
          </a:p>
          <a:p>
            <a:pPr>
              <a:defRPr b="1" sz="2000"/>
            </a:pPr>
            <a:r>
              <a:t>Status:</a:t>
            </a:r>
          </a:p>
          <a:p>
            <a:pPr lvl="1">
              <a:defRPr b="1" sz="2000"/>
            </a:pPr>
            <a:r>
              <a:t>Presented:</a:t>
            </a:r>
            <a:r>
              <a:rPr b="0"/>
              <a:t> "</a:t>
            </a:r>
            <a:r>
              <a:rPr b="0"/>
              <a:t>Our paper titled </a:t>
            </a:r>
            <a:r>
              <a:rPr b="0" i="1"/>
              <a:t>“Real-Time Suspicious Activity Detection Using CNN and LSTM”</a:t>
            </a:r>
            <a:r>
              <a:rPr b="0"/>
              <a:t> has been accepted  and presentedfor publication and presentation at the I3CTCON 2026 conference.</a:t>
            </a:r>
            <a:endParaRPr b="0"/>
          </a:p>
          <a:p>
            <a:pPr>
              <a:defRPr b="1" sz="2000"/>
            </a:pPr>
          </a:p>
          <a:p>
            <a:pPr>
              <a:defRPr b="1" sz="2000"/>
            </a:pPr>
            <a:r>
              <a:t>Significance:</a:t>
            </a:r>
          </a:p>
          <a:p>
            <a:pPr marL="668866" indent="-529166" defTabSz="457200">
              <a:buSzPct val="100000"/>
              <a:buFont typeface="Times Roman"/>
              <a:buChar char="•"/>
              <a:defRPr sz="1200">
                <a:latin typeface="Times Roman"/>
                <a:ea typeface="Times Roman"/>
                <a:cs typeface="Times Roman"/>
                <a:sym typeface="Times Roman"/>
              </a:defRPr>
            </a:pPr>
            <a:r>
              <a:rPr sz="2000"/>
              <a:t>Demonstrates research contribution in AI-based surveillance systems</a:t>
            </a:r>
            <a:endParaRPr sz="2000"/>
          </a:p>
          <a:p>
            <a:pPr marL="668866" indent="-529166" defTabSz="457200">
              <a:buSzPct val="100000"/>
              <a:buFont typeface="Times Roman"/>
              <a:buChar char="•"/>
              <a:defRPr sz="1200">
                <a:latin typeface="Times Roman"/>
                <a:ea typeface="Times Roman"/>
                <a:cs typeface="Times Roman"/>
                <a:sym typeface="Times Roman"/>
              </a:defRPr>
            </a:pPr>
            <a:r>
              <a:rPr sz="2000"/>
              <a:t>Provides opportunity for expert feedback and academic recognition</a:t>
            </a:r>
            <a:endParaRPr sz="2000"/>
          </a:p>
          <a:p>
            <a:pPr>
              <a:defRPr sz="2000"/>
            </a:pPr>
          </a:p>
          <a:p>
            <a:pPr>
              <a:defRPr sz="2000"/>
            </a:pPr>
          </a:p>
        </p:txBody>
      </p:sp>
      <p:sp>
        <p:nvSpPr>
          <p:cNvPr id="310"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Google Shape;916;p44"/>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13" name="Google Shape;917;p44"/>
          <p:cNvSpPr txBox="1"/>
          <p:nvPr/>
        </p:nvSpPr>
        <p:spPr>
          <a:xfrm>
            <a:off x="1722124" y="876299"/>
            <a:ext cx="9052552" cy="60984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nSpc>
                <a:spcPct val="102777"/>
              </a:lnSpc>
              <a:defRPr b="1" sz="3600"/>
            </a:lvl1pPr>
          </a:lstStyle>
          <a:p>
            <a:pPr/>
            <a:r>
              <a:t>References</a:t>
            </a:r>
          </a:p>
        </p:txBody>
      </p:sp>
      <p:sp>
        <p:nvSpPr>
          <p:cNvPr id="314" name="Google Shape;918;p44"/>
          <p:cNvSpPr txBox="1"/>
          <p:nvPr/>
        </p:nvSpPr>
        <p:spPr>
          <a:xfrm>
            <a:off x="1874524" y="2095500"/>
            <a:ext cx="14691352" cy="736213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[1] J. Redmon, S. Divvala, R. Girshick, and A. Farhadi, “You Only Look Once: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Unified, Real-Time Object Detection,” Proc. IEEE Conf. Computer Vision and</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Pattern Recognition (CVPR), pp. 779–788, 2016.</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[2] A. Bochkovskiy, C.-Y. Wang, and H.-Y. M. Liao, “YOLOv4: Optimal Speed</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and Accuracy of Object Detection,” arXiv preprint arXiv:2004.10934, 2020.</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[3] C.-Y. Wang, A. Bochkovskiy, and H.-Y. M. Liao, “YOLOv7: Trainable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Bag-of-Freebies Sets New State-of-the-Art for Real-Time Object Detectors,”</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arXiv preprint arXiv:2207.02696, 2022.</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[4] G. Jocher, A. Chaurasia, and J. Qiu, “YOLOv5 by</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Ultralytics,” GitHub Repository, 2020. [Online]. Available: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534">
                <a:latin typeface="Times New Roman"/>
                <a:ea typeface="Times New Roman"/>
                <a:cs typeface="Times New Roman"/>
                <a:sym typeface="Times New Roman"/>
              </a:defRPr>
            </a:pPr>
            <a:r>
              <a:t>https://github.com/ultralytics/yolov5</a:t>
            </a:r>
          </a:p>
        </p:txBody>
      </p:sp>
      <p:sp>
        <p:nvSpPr>
          <p:cNvPr id="315"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:17                 DEPARTMENT OF ARTIFICIAL INTELLIGENCE AND DATA SCIENCE</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Google Shape;923;p45"/>
          <p:cNvSpPr txBox="1"/>
          <p:nvPr/>
        </p:nvSpPr>
        <p:spPr>
          <a:xfrm>
            <a:off x="2817811" y="2486025"/>
            <a:ext cx="8820302" cy="157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40776"/>
              </a:lnSpc>
              <a:defRPr b="1" sz="10300">
                <a:solidFill>
                  <a:srgbClr val="051D40"/>
                </a:solidFill>
                <a:latin typeface="Open Sans ExtraBold"/>
                <a:ea typeface="Open Sans ExtraBold"/>
                <a:cs typeface="Open Sans ExtraBold"/>
                <a:sym typeface="Open Sans ExtraBold"/>
              </a:defRPr>
            </a:lvl1pPr>
          </a:lstStyle>
          <a:p>
            <a:pPr/>
            <a:r>
              <a:t>THANK YOU!</a:t>
            </a:r>
          </a:p>
        </p:txBody>
      </p:sp>
      <p:sp>
        <p:nvSpPr>
          <p:cNvPr id="318" name="Google Shape;924;p45"/>
          <p:cNvSpPr txBox="1"/>
          <p:nvPr/>
        </p:nvSpPr>
        <p:spPr>
          <a:xfrm>
            <a:off x="439424" y="9648425"/>
            <a:ext cx="4023352" cy="320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Corbel"/>
                <a:ea typeface="Corbel"/>
                <a:cs typeface="Corbel"/>
                <a:sym typeface="Corbel"/>
              </a:defRPr>
            </a:lvl1pPr>
          </a:lstStyle>
          <a:p>
            <a:pPr/>
            <a:r>
              <a:t>*</a:t>
            </a:r>
          </a:p>
        </p:txBody>
      </p:sp>
      <p:sp>
        <p:nvSpPr>
          <p:cNvPr id="319" name="Google Shape;925;p45"/>
          <p:cNvSpPr txBox="1"/>
          <p:nvPr>
            <p:ph type="sldNum" sz="quarter" idx="4294967295"/>
          </p:nvPr>
        </p:nvSpPr>
        <p:spPr>
          <a:xfrm>
            <a:off x="17915599" y="9629375"/>
            <a:ext cx="332701" cy="3581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0" name="Google Shape;583;p16"/>
          <p:cNvSpPr txBox="1"/>
          <p:nvPr/>
        </p:nvSpPr>
        <p:spPr>
          <a:xfrm>
            <a:off x="5849625" y="9652741"/>
            <a:ext cx="8776250" cy="3113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600">
                <a:solidFill>
                  <a:srgbClr val="7F7F7F"/>
                </a:solidFill>
                <a:latin typeface="Times New Roman"/>
                <a:ea typeface="Times New Roman"/>
                <a:cs typeface="Times New Roman"/>
                <a:sym typeface="Times New Roman"/>
              </a:defRPr>
            </a:lvl1pPr>
          </a:lstStyle>
          <a:p>
            <a:pPr/>
            <a:r>
              <a:t>BATCH NO :                 DEPARTMENT OF ARTIFICIAL INTELLIGENCE AND DATA SCIENCE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_Frame">
  <a:themeElements>
    <a:clrScheme name="2_Frame">
      <a:dk1>
        <a:srgbClr val="000000"/>
      </a:dk1>
      <a:lt1>
        <a:srgbClr val="FFFFFF"/>
      </a:lt1>
      <a:dk2>
        <a:srgbClr val="A7A7A7"/>
      </a:dk2>
      <a:lt2>
        <a:srgbClr val="535353"/>
      </a:lt2>
      <a:accent1>
        <a:srgbClr val="40BAD2"/>
      </a:accent1>
      <a:accent2>
        <a:srgbClr val="FAB900"/>
      </a:accent2>
      <a:accent3>
        <a:srgbClr val="90BB23"/>
      </a:accent3>
      <a:accent4>
        <a:srgbClr val="EE7008"/>
      </a:accent4>
      <a:accent5>
        <a:srgbClr val="1AB39F"/>
      </a:accent5>
      <a:accent6>
        <a:srgbClr val="D5393D"/>
      </a:accent6>
      <a:hlink>
        <a:srgbClr val="0000FF"/>
      </a:hlink>
      <a:folHlink>
        <a:srgbClr val="FF00FF"/>
      </a:folHlink>
    </a:clrScheme>
    <a:fontScheme name="2_Frame">
      <a:majorFont>
        <a:latin typeface="Arial"/>
        <a:ea typeface="Arial"/>
        <a:cs typeface="Arial"/>
      </a:majorFont>
      <a:minorFont>
        <a:latin typeface="Helvetica"/>
        <a:ea typeface="Helvetica"/>
        <a:cs typeface="Helvetica"/>
      </a:minorFont>
    </a:fontScheme>
    <a:fmtScheme name="2_Fra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_Frame">
  <a:themeElements>
    <a:clrScheme name="2_Frame">
      <a:dk1>
        <a:srgbClr val="000000"/>
      </a:dk1>
      <a:lt1>
        <a:srgbClr val="FFFFFF"/>
      </a:lt1>
      <a:dk2>
        <a:srgbClr val="A7A7A7"/>
      </a:dk2>
      <a:lt2>
        <a:srgbClr val="535353"/>
      </a:lt2>
      <a:accent1>
        <a:srgbClr val="40BAD2"/>
      </a:accent1>
      <a:accent2>
        <a:srgbClr val="FAB900"/>
      </a:accent2>
      <a:accent3>
        <a:srgbClr val="90BB23"/>
      </a:accent3>
      <a:accent4>
        <a:srgbClr val="EE7008"/>
      </a:accent4>
      <a:accent5>
        <a:srgbClr val="1AB39F"/>
      </a:accent5>
      <a:accent6>
        <a:srgbClr val="D5393D"/>
      </a:accent6>
      <a:hlink>
        <a:srgbClr val="0000FF"/>
      </a:hlink>
      <a:folHlink>
        <a:srgbClr val="FF00FF"/>
      </a:folHlink>
    </a:clrScheme>
    <a:fontScheme name="2_Frame">
      <a:majorFont>
        <a:latin typeface="Arial"/>
        <a:ea typeface="Arial"/>
        <a:cs typeface="Arial"/>
      </a:majorFont>
      <a:minorFont>
        <a:latin typeface="Helvetica"/>
        <a:ea typeface="Helvetica"/>
        <a:cs typeface="Helvetica"/>
      </a:minorFont>
    </a:fontScheme>
    <a:fmtScheme name="2_Fra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